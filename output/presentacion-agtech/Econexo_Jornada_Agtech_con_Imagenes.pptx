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84b7355e094b25" /><Relationship Type="http://schemas.openxmlformats.org/officeDocument/2006/relationships/extended-properties" Target="/docProps/app.xml" Id="R0011b40040804807" /><Relationship Type="http://schemas.openxmlformats.org/officeDocument/2006/relationships/officeDocument" Target="/ppt/presentation.xml" Id="Rc21bf0defa284355" /></Relationships>
</file>

<file path=ppt/presentation.xml><?xml version="1.0" encoding="utf-8"?>
<p:presentation xmlns:p="http://schemas.openxmlformats.org/presentationml/2006/main">
  <p:sldMasterIdLst>
    <p:sldMasterId xmlns:r="http://schemas.openxmlformats.org/officeDocument/2006/relationships" id="2147483648" r:id="R4098f216559d4623"/>
  </p:sldMasterIdLst>
  <p:notesMasterIdLst>
    <p:notesMasterId xmlns:r="http://schemas.openxmlformats.org/officeDocument/2006/relationships" r:id="R005cc4cd7ce14154"/>
  </p:notesMasterIdLst>
  <p:sldIdLst>
    <p:sldId xmlns:r="http://schemas.openxmlformats.org/officeDocument/2006/relationships" id="256" r:id="Ra27ec3210f394411"/>
    <p:sldId xmlns:r="http://schemas.openxmlformats.org/officeDocument/2006/relationships" id="257" r:id="R2da0db3dab904b87"/>
    <p:sldId xmlns:r="http://schemas.openxmlformats.org/officeDocument/2006/relationships" id="258" r:id="Rf7af379c5cd749a2"/>
    <p:sldId xmlns:r="http://schemas.openxmlformats.org/officeDocument/2006/relationships" id="259" r:id="R96c2e8540fea4c04"/>
    <p:sldId xmlns:r="http://schemas.openxmlformats.org/officeDocument/2006/relationships" id="260" r:id="R5bf6d5c0465447a4"/>
    <p:sldId xmlns:r="http://schemas.openxmlformats.org/officeDocument/2006/relationships" id="261" r:id="R43ceb73abfe34372"/>
    <p:sldId xmlns:r="http://schemas.openxmlformats.org/officeDocument/2006/relationships" id="262" r:id="Rff11c227a90e43e8"/>
    <p:sldId xmlns:r="http://schemas.openxmlformats.org/officeDocument/2006/relationships" id="263" r:id="R0f8b4aec04814703"/>
    <p:sldId xmlns:r="http://schemas.openxmlformats.org/officeDocument/2006/relationships" id="264" r:id="R34477e0772274bc9"/>
    <p:sldId xmlns:r="http://schemas.openxmlformats.org/officeDocument/2006/relationships" id="265" r:id="R4356c72ab70844cf"/>
    <p:sldId xmlns:r="http://schemas.openxmlformats.org/officeDocument/2006/relationships" id="266" r:id="Rfe46e2b10ec042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44433c907042ef" /><Relationship Type="http://schemas.openxmlformats.org/officeDocument/2006/relationships/slideMaster" Target="/ppt/slideMasters/slideMaster1.xml" Id="R4098f216559d4623" /><Relationship Type="http://schemas.openxmlformats.org/officeDocument/2006/relationships/notesMaster" Target="/ppt/notesMasters/notesMaster1.xml" Id="R005cc4cd7ce14154" /><Relationship Type="http://schemas.openxmlformats.org/officeDocument/2006/relationships/presProps" Target="/ppt/presProps.xml" Id="R0baad70f584b45f7" /><Relationship Type="http://schemas.openxmlformats.org/officeDocument/2006/relationships/tableStyles" Target="/ppt/tableStyles.xml" Id="R8e1d157d80d04bc2" /><Relationship Type="http://schemas.openxmlformats.org/officeDocument/2006/relationships/slide" Target="/ppt/slides/slide1.xml" Id="Ra27ec3210f394411" /><Relationship Type="http://schemas.openxmlformats.org/officeDocument/2006/relationships/slide" Target="/ppt/slides/slide2.xml" Id="R2da0db3dab904b87" /><Relationship Type="http://schemas.openxmlformats.org/officeDocument/2006/relationships/slide" Target="/ppt/slides/slide3.xml" Id="Rf7af379c5cd749a2" /><Relationship Type="http://schemas.openxmlformats.org/officeDocument/2006/relationships/slide" Target="/ppt/slides/slide4.xml" Id="R96c2e8540fea4c04" /><Relationship Type="http://schemas.openxmlformats.org/officeDocument/2006/relationships/slide" Target="/ppt/slides/slide5.xml" Id="R5bf6d5c0465447a4" /><Relationship Type="http://schemas.openxmlformats.org/officeDocument/2006/relationships/slide" Target="/ppt/slides/slide6.xml" Id="R43ceb73abfe34372" /><Relationship Type="http://schemas.openxmlformats.org/officeDocument/2006/relationships/slide" Target="/ppt/slides/slide7.xml" Id="Rff11c227a90e43e8" /><Relationship Type="http://schemas.openxmlformats.org/officeDocument/2006/relationships/slide" Target="/ppt/slides/slide8.xml" Id="R0f8b4aec04814703" /><Relationship Type="http://schemas.openxmlformats.org/officeDocument/2006/relationships/slide" Target="/ppt/slides/slide9.xml" Id="R34477e0772274bc9" /><Relationship Type="http://schemas.openxmlformats.org/officeDocument/2006/relationships/slide" Target="/ppt/slides/slide10.xml" Id="R4356c72ab70844cf" /><Relationship Type="http://schemas.openxmlformats.org/officeDocument/2006/relationships/slide" Target="/ppt/slides/slide11.xml" Id="Rfe46e2b10ec042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098c82fc0f49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596891cb694b01" /><Relationship Type="http://schemas.openxmlformats.org/officeDocument/2006/relationships/notesMaster" Target="/ppt/notesMasters/notesMaster1.xml" Id="R444f8c22899244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b648a33b4845d9" /><Relationship Type="http://schemas.openxmlformats.org/officeDocument/2006/relationships/notesMaster" Target="/ppt/notesMasters/notesMaster1.xml" Id="R908ace840dd04c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cf11faea2e4458" /><Relationship Type="http://schemas.openxmlformats.org/officeDocument/2006/relationships/notesMaster" Target="/ppt/notesMasters/notesMaster1.xml" Id="Rd48f61242a4845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20c7467ea8496d" /><Relationship Type="http://schemas.openxmlformats.org/officeDocument/2006/relationships/notesMaster" Target="/ppt/notesMasters/notesMaster1.xml" Id="R82e0bff9bb2843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b7f127680942d8" /><Relationship Type="http://schemas.openxmlformats.org/officeDocument/2006/relationships/notesMaster" Target="/ppt/notesMasters/notesMaster1.xml" Id="R4d20ed8ba5184f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f2618663424308" /><Relationship Type="http://schemas.openxmlformats.org/officeDocument/2006/relationships/notesMaster" Target="/ppt/notesMasters/notesMaster1.xml" Id="R839f6381241f4c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7db2af17354471" /><Relationship Type="http://schemas.openxmlformats.org/officeDocument/2006/relationships/notesMaster" Target="/ppt/notesMasters/notesMaster1.xml" Id="R523340d59bc446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ac96a63059469e" /><Relationship Type="http://schemas.openxmlformats.org/officeDocument/2006/relationships/notesMaster" Target="/ppt/notesMasters/notesMaster1.xml" Id="R8a952ccfdd1643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f0400892784bf7" /><Relationship Type="http://schemas.openxmlformats.org/officeDocument/2006/relationships/notesMaster" Target="/ppt/notesMasters/notesMaster1.xml" Id="Rcc6b7653b51945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3348d318fe40f5" /><Relationship Type="http://schemas.openxmlformats.org/officeDocument/2006/relationships/notesMaster" Target="/ppt/notesMasters/notesMaster1.xml" Id="R05475bafc1c347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e7edf023c048e9" /><Relationship Type="http://schemas.openxmlformats.org/officeDocument/2006/relationships/notesMaster" Target="/ppt/notesMasters/notesMaster1.xml" Id="R54bd2f4898a9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Cuando uno trabaja en el campo, hay decisiones que no pueden esperar: entrar a un lote, organizar una aplicación, revisar un cultivo o planificar el pastoreo. Y muchas veces la información para decidir está repartida entre un pronóstico, una planilla y lo que observamos en la recorrida. Econexo reúne esa información y la relaciona con cada lote. Hoy quiero mostrarles para qué puede servir en el trabajo cotidiano, sin entrar en la tecnología que hay detrás. La pregunta que nos guía es sencilla: ¿qué necesito saber de mi campo para decidir mejor hoy?</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Pensemos en una mañana normal de trabajo. Ya hay gente organizada, equipos disponibles y tareas pendientes. ¿Pero las condiciones acompañan? Quizás tenemos un pronóstico general, pero falta relacionarlo con el cultivo y con ese lote. Quizás sabemos que llovió, pero todavía debemos revisar cómo se combina esa lluvia con la demanda del cultivo. En ganadería, ver un potrero verde no alcanza para saber cuánto alimento realmente ofrece. Estas preguntas tienen consecuencias sobre el trabajo y los recursos. No voy a ponerles una cifra de ahorro que no hayamos medido. El problema que abordamos es concreto: decidir con información dispersa exige esfuerzo y puede dejar aspectos importantes fuera de la conversación.</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La lógica de Econexo empieza por algo conocido: el lote. Registramos dónde está, qué cultivo tiene y los datos necesarios para darle contexto. Sobre esa base podemos consultar el clima, el pronóstico y los indicadores que corresponden. Para el seguimiento de la vegetación, EcoCampo incorpora consultas satelitales cuando la fuente está disponible. También conserva las evaluaciones realizadas. El beneficio que proponemos es tener una referencia común: que el productor y su asesor miren el mismo lote, la misma fecha y la misma información. Así la conversación puede pasar de buscar datos en varios lugares a discutir qué conviene revisar o hacer. La calidad y la actualidad de esos datos siguen siendo importantes.</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a:p xmlns:a="http://schemas.openxmlformats.org/drawingml/2006/main">
            <a:r>
              <a:t/>
            </a:r>
          </a:p>
          <a:p xmlns:a="http://schemas.openxmlformats.org/drawingml/2006/main">
            <a:r>
              <a:t>EN PANTALLA: Tu lote, con contexto. Cultivo, superficie y señales para preparar la recorrida.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Para el agro, la plataforma organiza estas necesidades en dos módulos. EcoNexo AG acompaña el seguimiento de cultivos: cómo avanza su desarrollo estimado, qué ocurre con el balance de agua y qué condiciones meteorológicas se esperan para las labores. EcoCampo suma una evaluación preliminar del terreno y herramientas de seguimiento de vegetación y presupuesto forrajero. Para quien produce de forma mixta, esto permite trabajar sobre los mismos lotes registrados. No hace falta aprender los nombres de todos los indicadores. Lo importante es reconocer qué pregunta queremos responder. Si la pregunta es sobre una aplicación, miramos las condiciones previstas. Si es sobre pastoreo, necesitamos además mediciones reales de forraje.</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Veamos una situación concreta. Tenemos prevista una aplicación y queremos organizar el equipo. Mirar solamente si va a llover puede ser insuficiente. También importan el viento, la temperatura y la humedad. Econexo AG cruza esas condiciones del pronóstico y señala ventanas horarias que cumplen sus criterios. Eso ayuda a revisar la programación de la tarea con una base común. Es un apoyo a la planificación: las condiciones pueden cambiar y deben verificarse en el campo. También hay que respetar las indicaciones del producto y el criterio del profesional responsable. La propuesta comercial es sencilla: tener a mano una lectura conjunta de las condiciones que importan, antes de comprometer personas y equipos. Este es un ejemplo de uso, no una promesa de ahorro ya demostrada.</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Avisos para planificar. Condiciones a revisar antes de organizar una labor.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1:25</a:t>
            </a:r>
          </a:p>
          <a:p xmlns:a="http://schemas.openxmlformats.org/drawingml/2006/main">
            <a:r>
              <a:t/>
            </a:r>
          </a:p>
          <a:p xmlns:a="http://schemas.openxmlformats.org/drawingml/2006/main">
            <a:r>
              <a:t>Otra necesidad habitual es decidir dónde poner primero la atención. Econexo AG reúne distintas señales. El balance de agua estima la relación entre lluvia y demanda del cultivo. La evolución de la temperatura permite estimar etapas de desarrollo. Y el pronóstico puede señalar condiciones de frío o calor que merecen seguimiento. También identifica condiciones meteorológicas favorables a determinadas enfermedades. Esto último no significa que una enfermedad esté presente: sirve para orientar una revisión. Imaginemos que manejamos varios lotes y tenemos tiempo limitado para recorrerlos. Estas señales pueden ayudarnos a preparar esa recorrida y las preguntas que llevamos al campo. Después, la observación del productor y el asesor completa la lectura. Las estimaciones son un apoyo y deben interpretarse según el suelo y el contexto local.</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Los próximos días. Lluvia y demanda del cultivo para seguir el agua del lote.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En ganadería aparece una pregunta muy concreta: ¿para cuánto alcanza el forraje que tenemos? EcoCampo permite armar un presupuesto con la superficie, la materia seca medida, el aprovechamiento esperado, la demanda diaria por animal y los días previstos de uso. Esto permite revisar los supuestos del cálculo y conversar sobre la planificación. El seguimiento satelital aporta otra mirada: muestra cambios en la vegetación. Pero una imagen verde no mide por sí sola la calidad del forraje ni indica cuántos animales puede sostener un potrero. Por eso la herramienta requiere información de campo. El cálculo tampoco incorpora automáticamente crecimiento futuro, reservas o suplementos. Su valor está en ordenar una evaluación explícita, con los datos y límites a la vista, que el equipo pueda actualizar.</a:t>
            </a:r>
          </a:p>
          <a:p xmlns:a="http://schemas.openxmlformats.org/drawingml/2006/main">
            <a:r>
              <a:t/>
            </a:r>
          </a:p>
          <a:p xmlns:a="http://schemas.openxmlformats.org/drawingml/2006/main">
            <a:r>
              <a:t>Fuentes del producto: docs/ECOCAMPO.md; apps/api/app/ecocampo.py. Repositorio Econexo consultado el 19/10/2026. Los ejemplos de uso son ilustrativos, no casos de éxito medidos.</a:t>
            </a:r>
          </a:p>
          <a:p xmlns:a="http://schemas.openxmlformats.org/drawingml/2006/main">
            <a:r>
              <a:t/>
            </a:r>
          </a:p>
          <a:p xmlns:a="http://schemas.openxmlformats.org/drawingml/2006/main">
            <a:r>
              <a:t>EN PANTALLA: Un cálculo que se puede revisar. Mediciones de forraje y demanda animal como base de la planificación.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Juntemos todo en una situación ilustrativa. Al comenzar la semana consultamos un lote. Revisamos el pronóstico y encontramos una señal que merece atención, por ejemplo un balance de agua desfavorable o condiciones de calor. Organizamos una recorrida para contrastar esa señal con lo que realmente ocurre. Con esa observación, el productor y su asesor deciden si corresponde ajustar una tarea o seguir observando. Si además hay una aplicación prevista, revisan las ventanas horarias y vuelven a verificar las condiciones antes de trabajar. Luego consultan cómo evoluciona el lote. Econexo aporta información durante ese recorrido. La decisión sigue teniendo un responsable humano. Esta secuencia muestra el uso que buscamos, sin atribuirle un resultado productivo que todavía no medimos.</a:t>
            </a:r>
          </a:p>
          <a:p xmlns:a="http://schemas.openxmlformats.org/drawingml/2006/main">
            <a:r>
              <a:t/>
            </a:r>
          </a:p>
          <a:p xmlns:a="http://schemas.openxmlformats.org/drawingml/2006/main">
            <a:r>
              <a:t>Fuentes del producto: docs/ECOCAMPO.md; apps/api/app/agro.py; apps/api/app/routers/agro.py. Repositorio Econexo consultado el 19/10/2026. Los ejemplos de uso son ilustrativos, no casos de éxito medidos.</a:t>
            </a:r>
          </a:p>
          <a:p xmlns:a="http://schemas.openxmlformats.org/drawingml/2006/main">
            <a:r>
              <a:t/>
            </a:r>
          </a:p>
          <a:p xmlns:a="http://schemas.openxmlformats.org/drawingml/2006/main">
            <a:r>
              <a:t>EN PANTALLA: Cada evaluación deja un registro. Fecha, resultado y datos pendientes para la siguiente revisión.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El valor se entiende mejor si pensamos en las personas que usan la información. Para el productor, la propuesta es contar con un lugar donde revisar sus lotes. Para el asesor, llegar a la visita con más contexto y conservar una referencia para la conversación. Para el equipo, organizar las tareas a partir de información compartida. Estos son beneficios de uso que proponemos comprobar en cada establecimiento. La pregunta para evaluar la plataforma no debería ser solamente cuántas funciones tiene. También conviene preguntarse si nos ayudó a preparar una recorrida, revisar una labor o entender mejor una situación. Ahí es donde una herramienta digital se vuelve útil en el trabajo diario.</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La propuesta para empezar es llevar la conversación a un caso propio. Elegimos un lote y una pregunta que hoy les ocupe tiempo: planificar una labor, seguir el agua del cultivo o revisar un presupuesto forrajero. Después vemos qué datos hay disponibles y qué información del campo necesitan aportar. Con eso definimos qué módulo corresponde, quién lo va a usar y qué sería una mejora útil en su trabajo. Esa es una propuesta de evaluación, no un compromiso de implementación con un plazo fijo. La disponibilidad de las fuentes y las condiciones comerciales se revisan para cada caso. Lo importante es salir de una presentación general y mirar una decisión real de su establecimiento.</a:t>
            </a:r>
          </a:p>
          <a:p xmlns:a="http://schemas.openxmlformats.org/drawingml/2006/main">
            <a:r>
              <a:t/>
            </a:r>
          </a:p>
          <a:p xmlns:a="http://schemas.openxmlformats.org/drawingml/2006/main">
            <a:r>
              <a:t>Fuentes del producto: Propuesta de evaluación comercial para esta jornada. Alcance funcional: docs/ECOCAMPO.md; apps/api/app/routers/agro.py. Repositorio Econexo consultado el 19/10/2026. Los ejemplos de uso son ilustrativos, no casos de éxito medidos.</a:t>
            </a:r>
          </a:p>
          <a:p xmlns:a="http://schemas.openxmlformats.org/drawingml/2006/main">
            <a:r>
              <a:t/>
            </a:r>
          </a:p>
          <a:p xmlns:a="http://schemas.openxmlformats.org/drawingml/2006/main">
            <a:r>
              <a:t>EN PANTALLA: Empezar con una decisión propia. Un lote y una necesidad concreta para evaluar la utilidad de Econexo. Aclarar que los valores son ejemplos de demostración y no resultados reales de un establecimiento.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Para cerrar, les dejo una pregunta: ¿qué decisión de su campo les gustaría resolver con más información? Puede ser algo tan concreto como preparar la próxima aplicación, elegir qué lote recorrer primero o revisar el forraje disponible. Econexo busca acompañar esas decisiones con información organizada por lote y herramientas que ayuden a interpretarla. Si reconocieron alguna de estas necesidades en su trabajo, conversemos al terminar. La propuesta es coordinar una demostración y revisar un caso propio. Gracias.</a:t>
            </a:r>
          </a:p>
          <a:p xmlns:a="http://schemas.openxmlformats.org/drawingml/2006/main">
            <a:r>
              <a:t/>
            </a:r>
          </a:p>
          <a:p xmlns:a="http://schemas.openxmlformats.org/drawingml/2006/main">
            <a:r>
              <a:t>Duración total sugerida: 12 minutos y 45 segundos. Para una versión de 10 minutos, abreviar los ejemplos de las diapositivas 5 a 8. Para 15 minutos, reservar el cierre para una pregunta del público.</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b23734fd2242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982119b07043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5ef727a8de46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86cb06f09c46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569c44a2bc47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9f41a2656f42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6FBB60-3EB1-4C53-99FA-B2AEC38DA1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99A356-A710-458A-B0F3-40EC0492C7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5B0EB1-5E3B-4267-8051-4AE71FF4E1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FCC38D-1C6F-4613-AE05-0C8EC9945B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B25AE8-AB64-4B71-A408-D1C46D504D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1B9492-4F63-436D-A9DD-444BA9BD1A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F6A650-BE89-4E1E-B2E2-6C8D8A9F26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3EE48C-2FAD-4801-B087-6A90687FC5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5A1477-67BE-4C24-B57B-A0B21F1520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5DC0F8-16DC-4F5C-974F-36C5253BA5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bb81c27dab4648" /><Relationship Type="http://schemas.openxmlformats.org/officeDocument/2006/relationships/slideLayout" Target="/ppt/slideLayouts/slideLayout1.xml" Id="R679db2e4db63449d" /><Relationship Type="http://schemas.openxmlformats.org/officeDocument/2006/relationships/slideLayout" Target="/ppt/slideLayouts/slideLayout2.xml" Id="Ra3680405bc0944e7" /><Relationship Type="http://schemas.openxmlformats.org/officeDocument/2006/relationships/slideLayout" Target="/ppt/slideLayouts/slideLayout3.xml" Id="R7b9fe94e98c2424e" /><Relationship Type="http://schemas.openxmlformats.org/officeDocument/2006/relationships/slideLayout" Target="/ppt/slideLayouts/slideLayout4.xml" Id="R342015d9c2474cc3" /><Relationship Type="http://schemas.openxmlformats.org/officeDocument/2006/relationships/slideLayout" Target="/ppt/slideLayouts/slideLayout5.xml" Id="R80f79c3d89d94839" /><Relationship Type="http://schemas.openxmlformats.org/officeDocument/2006/relationships/slideLayout" Target="/ppt/slideLayouts/slideLayout6.xml" Id="Rfe328a85eed543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9db2e4db63449d"/>
    <p:sldLayoutId xmlns:r="http://schemas.openxmlformats.org/officeDocument/2006/relationships" id="2147483650" r:id="Ra3680405bc0944e7"/>
    <p:sldLayoutId xmlns:r="http://schemas.openxmlformats.org/officeDocument/2006/relationships" id="2147483651" r:id="R7b9fe94e98c2424e"/>
    <p:sldLayoutId xmlns:r="http://schemas.openxmlformats.org/officeDocument/2006/relationships" id="2147483652" r:id="R342015d9c2474cc3"/>
    <p:sldLayoutId xmlns:r="http://schemas.openxmlformats.org/officeDocument/2006/relationships" id="2147483653" r:id="R80f79c3d89d94839"/>
    <p:sldLayoutId xmlns:r="http://schemas.openxmlformats.org/officeDocument/2006/relationships" id="2147483654" r:id="Rfe328a85eed543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59ca08af674704" /><Relationship Type="http://schemas.openxmlformats.org/officeDocument/2006/relationships/image" Target="/ppt/media/image.jpeg" Id="Rfd1c476b7edb4c50" /><Relationship Type="http://schemas.openxmlformats.org/officeDocument/2006/relationships/notesSlide" Target="/ppt/notesSlides/notesSlide1.xml" Id="R46fc4afbc2474a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cde41ec10341b8" /><Relationship Type="http://schemas.openxmlformats.org/officeDocument/2006/relationships/notesSlide" Target="/ppt/notesSlides/notesSlide2.xml" Id="Rfc2c2ae264dd4a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db22eb00644f0e" /><Relationship Type="http://schemas.openxmlformats.org/officeDocument/2006/relationships/image" Target="/ppt/media/image2.jpeg" Id="Rf5c29b44d90441fa" /><Relationship Type="http://schemas.openxmlformats.org/officeDocument/2006/relationships/notesSlide" Target="/ppt/notesSlides/notesSlide3.xml" Id="R2433d30a5bc944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6cf93d52f84131" /><Relationship Type="http://schemas.openxmlformats.org/officeDocument/2006/relationships/notesSlide" Target="/ppt/notesSlides/notesSlide4.xml" Id="R8427b73fdc0b41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99add299904468" /><Relationship Type="http://schemas.openxmlformats.org/officeDocument/2006/relationships/image" Target="/ppt/media/image3.jpeg" Id="R024abc5bb0524fa8" /><Relationship Type="http://schemas.openxmlformats.org/officeDocument/2006/relationships/notesSlide" Target="/ppt/notesSlides/notesSlide5.xml" Id="R31775ac2686547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0379add1e14053" /><Relationship Type="http://schemas.openxmlformats.org/officeDocument/2006/relationships/image" Target="/ppt/media/image4.jpeg" Id="R46b36819bb4247bf" /><Relationship Type="http://schemas.openxmlformats.org/officeDocument/2006/relationships/notesSlide" Target="/ppt/notesSlides/notesSlide6.xml" Id="R76fd2614214047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426915aa3044d1" /><Relationship Type="http://schemas.openxmlformats.org/officeDocument/2006/relationships/image" Target="/ppt/media/image5.jpeg" Id="R2ff25d5c831f4013" /><Relationship Type="http://schemas.openxmlformats.org/officeDocument/2006/relationships/notesSlide" Target="/ppt/notesSlides/notesSlide7.xml" Id="R5b466b8f3f7540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a592ba36f84463" /><Relationship Type="http://schemas.openxmlformats.org/officeDocument/2006/relationships/image" Target="/ppt/media/image6.jpeg" Id="R14a34f2734814568" /><Relationship Type="http://schemas.openxmlformats.org/officeDocument/2006/relationships/notesSlide" Target="/ppt/notesSlides/notesSlide8.xml" Id="Ra0ea61f31f4f4a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5824255d8649c5" /><Relationship Type="http://schemas.openxmlformats.org/officeDocument/2006/relationships/notesSlide" Target="/ppt/notesSlides/notesSlide9.xml" Id="R506a6a665fbf4c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919b3550ea483f" /><Relationship Type="http://schemas.openxmlformats.org/officeDocument/2006/relationships/image" Target="/ppt/media/image7.jpeg" Id="Rb8dc1b6e4d8049c9" /><Relationship Type="http://schemas.openxmlformats.org/officeDocument/2006/relationships/notesSlide" Target="/ppt/notesSlides/notesSlide10.xml" Id="R10e8e3bf005449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f515fa713043eb" /><Relationship Type="http://schemas.openxmlformats.org/officeDocument/2006/relationships/image" Target="/ppt/media/image8.jpeg" Id="R7814d5ad2922401b" /><Relationship Type="http://schemas.openxmlformats.org/officeDocument/2006/relationships/notesSlide" Target="/ppt/notesSlides/notesSlide11.xml" Id="R7f2605cf72c643e0" /></Relationships>
</file>

<file path=ppt/slides/slide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49421D-9E01-47CB-8E8C-2491514F97B2}"/>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840E56BB-FCE7-4C68-ABF6-5E89E679FB53}"/>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2F11E87E-11B1-43A7-998A-1EEAF0EA1327}"/>
              </a:ext>
            </a:extLst>
          </p:cNvPr>
          <p:cNvPicPr>
            <a:picLocks xmlns:a="http://schemas.openxmlformats.org/drawingml/2006/main" noChangeAspect="1"/>
          </p:cNvPicPr>
          <p:nvPr/>
        </p:nvPicPr>
        <p:blipFill>
          <a:blip xmlns:r="http://schemas.openxmlformats.org/officeDocument/2006/relationships" xmlns:a="http://schemas.openxmlformats.org/drawingml/2006/main" r:embed="Rfd1c476b7edb4c50"/>
          <a:stretch xmlns:a="http://schemas.openxmlformats.org/drawingml/2006/main"/>
        </p:blipFill>
        <p:spPr>
          <a:xfrm xmlns:a="http://schemas.openxmlformats.org/drawingml/2006/main">
            <a:off x="609600" y="857250"/>
            <a:ext cx="6286500" cy="16502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B2152E-7123-4F2B-A1AC-7CD0131F747D}"/>
              </a:ext>
            </a:extLst>
          </p:cNvPr>
          <p:cNvSpPr>
            <a:spLocks xmlns:a="http://schemas.openxmlformats.org/drawingml/2006/main" noGrp="1"/>
          </p:cNvSpPr>
          <p:nvPr/>
        </p:nvSpPr>
        <p:spPr>
          <a:xfrm xmlns:a="http://schemas.openxmlformats.org/drawingml/2006/main">
            <a:off x="609600" y="2952750"/>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400" b="1">
                <a:solidFill>
                  <a:srgbClr val="EDF5EF"/>
                </a:solidFill>
                <a:latin typeface="Arial"/>
                <a:ea typeface="Arial"/>
                <a:cs typeface="Arial"/>
              </a:defRPr>
            </a:defPPr>
            <a:lvl1pPr>
              <a:defRPr sz="5400" b="1">
                <a:solidFill>
                  <a:srgbClr val="EDF5EF"/>
                </a:solidFill>
                <a:latin typeface="Arial"/>
                <a:ea typeface="Arial"/>
                <a:cs typeface="Arial"/>
              </a:defRPr>
            </a:lvl1pPr>
            <a:lvl2pPr>
              <a:defRPr sz="5400" b="1">
                <a:solidFill>
                  <a:srgbClr val="EDF5EF"/>
                </a:solidFill>
                <a:latin typeface="Arial"/>
                <a:ea typeface="Arial"/>
                <a:cs typeface="Arial"/>
              </a:defRPr>
            </a:lvl2pPr>
            <a:lvl3pPr>
              <a:defRPr sz="5400" b="1">
                <a:solidFill>
                  <a:srgbClr val="EDF5EF"/>
                </a:solidFill>
                <a:latin typeface="Arial"/>
                <a:ea typeface="Arial"/>
                <a:cs typeface="Arial"/>
              </a:defRPr>
            </a:lvl3pPr>
            <a:lvl4pPr>
              <a:defRPr sz="5400" b="1">
                <a:solidFill>
                  <a:srgbClr val="EDF5EF"/>
                </a:solidFill>
                <a:latin typeface="Arial"/>
                <a:ea typeface="Arial"/>
                <a:cs typeface="Arial"/>
              </a:defRPr>
            </a:lvl4pPr>
            <a:lvl5pPr>
              <a:defRPr sz="5400" b="1">
                <a:solidFill>
                  <a:srgbClr val="EDF5EF"/>
                </a:solidFill>
                <a:latin typeface="Arial"/>
                <a:ea typeface="Arial"/>
                <a:cs typeface="Arial"/>
              </a:defRPr>
            </a:lvl5pPr>
            <a:lvl6pPr>
              <a:defRPr sz="5400" b="1">
                <a:solidFill>
                  <a:srgbClr val="EDF5EF"/>
                </a:solidFill>
                <a:latin typeface="Arial"/>
                <a:ea typeface="Arial"/>
                <a:cs typeface="Arial"/>
              </a:defRPr>
            </a:lvl6pPr>
            <a:lvl7pPr>
              <a:defRPr sz="5400" b="1">
                <a:solidFill>
                  <a:srgbClr val="EDF5EF"/>
                </a:solidFill>
                <a:latin typeface="Arial"/>
                <a:ea typeface="Arial"/>
                <a:cs typeface="Arial"/>
              </a:defRPr>
            </a:lvl7pPr>
            <a:lvl8pPr>
              <a:defRPr sz="5400" b="1">
                <a:solidFill>
                  <a:srgbClr val="EDF5EF"/>
                </a:solidFill>
                <a:latin typeface="Arial"/>
                <a:ea typeface="Arial"/>
                <a:cs typeface="Arial"/>
              </a:defRPr>
            </a:lvl8pPr>
            <a:lvl9pPr>
              <a:defRPr sz="5400" b="1">
                <a:solidFill>
                  <a:srgbClr val="EDF5EF"/>
                </a:solidFill>
                <a:latin typeface="Arial"/>
                <a:ea typeface="Arial"/>
                <a:cs typeface="Arial"/>
              </a:defRPr>
            </a:lvl9pPr>
          </a:lstStyle>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Decisiones para</a:t>
            </a:r>
          </a:p>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el campo de hoy</a:t>
            </a:r>
          </a:p>
        </p:txBody>
      </p:sp>
      <p:sp>
        <p:nvSpPr>
          <p:cNvPr id="5" name="">
            <a:extLst xmlns:a="http://schemas.openxmlformats.org/drawingml/2006/main">
              <a:ext uri="{FF2B5EF4-FFF2-40B4-BE49-F238E27FC236}">
                <a16:creationId xmlns:a16="http://schemas.microsoft.com/office/drawing/2014/main" id="{DE2A5F54-87A2-4C38-8271-755F0935982F}"/>
              </a:ext>
            </a:extLst>
          </p:cNvPr>
          <p:cNvSpPr>
            <a:spLocks xmlns:a="http://schemas.openxmlformats.org/drawingml/2006/main" noGrp="1"/>
          </p:cNvSpPr>
          <p:nvPr/>
        </p:nvSpPr>
        <p:spPr>
          <a:xfrm xmlns:a="http://schemas.openxmlformats.org/drawingml/2006/main">
            <a:off x="6477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8FF06A"/>
                </a:solidFill>
                <a:latin typeface="Arial"/>
                <a:ea typeface="Arial"/>
                <a:cs typeface="Arial"/>
              </a:defRPr>
            </a:defPPr>
            <a:lvl1pPr>
              <a:defRPr sz="2250" b="0">
                <a:solidFill>
                  <a:srgbClr val="8FF06A"/>
                </a:solidFill>
                <a:latin typeface="Arial"/>
                <a:ea typeface="Arial"/>
                <a:cs typeface="Arial"/>
              </a:defRPr>
            </a:lvl1pPr>
            <a:lvl2pPr>
              <a:defRPr sz="2250" b="0">
                <a:solidFill>
                  <a:srgbClr val="8FF06A"/>
                </a:solidFill>
                <a:latin typeface="Arial"/>
                <a:ea typeface="Arial"/>
                <a:cs typeface="Arial"/>
              </a:defRPr>
            </a:lvl2pPr>
            <a:lvl3pPr>
              <a:defRPr sz="2250" b="0">
                <a:solidFill>
                  <a:srgbClr val="8FF06A"/>
                </a:solidFill>
                <a:latin typeface="Arial"/>
                <a:ea typeface="Arial"/>
                <a:cs typeface="Arial"/>
              </a:defRPr>
            </a:lvl3pPr>
            <a:lvl4pPr>
              <a:defRPr sz="2250" b="0">
                <a:solidFill>
                  <a:srgbClr val="8FF06A"/>
                </a:solidFill>
                <a:latin typeface="Arial"/>
                <a:ea typeface="Arial"/>
                <a:cs typeface="Arial"/>
              </a:defRPr>
            </a:lvl4pPr>
            <a:lvl5pPr>
              <a:defRPr sz="2250" b="0">
                <a:solidFill>
                  <a:srgbClr val="8FF06A"/>
                </a:solidFill>
                <a:latin typeface="Arial"/>
                <a:ea typeface="Arial"/>
                <a:cs typeface="Arial"/>
              </a:defRPr>
            </a:lvl5pPr>
            <a:lvl6pPr>
              <a:defRPr sz="2250" b="0">
                <a:solidFill>
                  <a:srgbClr val="8FF06A"/>
                </a:solidFill>
                <a:latin typeface="Arial"/>
                <a:ea typeface="Arial"/>
                <a:cs typeface="Arial"/>
              </a:defRPr>
            </a:lvl6pPr>
            <a:lvl7pPr>
              <a:defRPr sz="2250" b="0">
                <a:solidFill>
                  <a:srgbClr val="8FF06A"/>
                </a:solidFill>
                <a:latin typeface="Arial"/>
                <a:ea typeface="Arial"/>
                <a:cs typeface="Arial"/>
              </a:defRPr>
            </a:lvl7pPr>
            <a:lvl8pPr>
              <a:defRPr sz="2250" b="0">
                <a:solidFill>
                  <a:srgbClr val="8FF06A"/>
                </a:solidFill>
                <a:latin typeface="Arial"/>
                <a:ea typeface="Arial"/>
                <a:cs typeface="Arial"/>
              </a:defRPr>
            </a:lvl8pPr>
            <a:lvl9pPr>
              <a:defRPr sz="2250" b="0">
                <a:solidFill>
                  <a:srgbClr val="8FF06A"/>
                </a:solidFill>
                <a:latin typeface="Arial"/>
                <a:ea typeface="Arial"/>
                <a:cs typeface="Arial"/>
              </a:defRPr>
            </a:lvl9pPr>
          </a:lstStyle>
          <a:p xmlns:a="http://schemas.openxmlformats.org/drawingml/2006/main">
            <a:pPr>
              <a:defRPr sz="2250" b="0">
                <a:solidFill>
                  <a:srgbClr val="8FF06A"/>
                </a:solidFill>
                <a:latin typeface="Arial"/>
                <a:ea typeface="Arial"/>
                <a:cs typeface="Arial"/>
              </a:defRPr>
            </a:pPr>
            <a:r>
              <a:rPr sz="2250" b="0">
                <a:solidFill>
                  <a:srgbClr val="8FF06A"/>
                </a:solidFill>
                <a:latin typeface="Arial"/>
                <a:ea typeface="Arial"/>
                <a:cs typeface="Arial"/>
              </a:rPr>
              <a:t>Información del lote para planificar y actuar con más contexto</a:t>
            </a:r>
          </a:p>
        </p:txBody>
      </p:sp>
    </p:spTree>
    <p:extLst>
      <p:ext uri="{BB962C8B-B14F-4D97-AF65-F5344CB8AC3E}">
        <p14:creationId xmlns:p14="http://schemas.microsoft.com/office/powerpoint/2010/main" val="1085738321"/>
      </p:ext>
    </p:extLst>
  </p:cSld>
</p:sld>
</file>

<file path=ppt/slides/slide2.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6EF366-6E7F-40FF-A3A6-A09CD5F2D152}"/>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DE758791-6BF5-4293-BCCB-423F10F16B5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EDBE073-B4DB-4597-83DB-E1CDECB71536}"/>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Cada decisión tiene un costo</a:t>
            </a:r>
          </a:p>
        </p:txBody>
      </p:sp>
      <p:sp>
        <p:nvSpPr>
          <p:cNvPr id="4" name="">
            <a:extLst xmlns:a="http://schemas.openxmlformats.org/drawingml/2006/main">
              <a:ext uri="{FF2B5EF4-FFF2-40B4-BE49-F238E27FC236}">
                <a16:creationId xmlns:a16="http://schemas.microsoft.com/office/drawing/2014/main" id="{1893043F-B23A-4788-A1ED-A4FFA5904BFD}"/>
              </a:ext>
            </a:extLst>
          </p:cNvPr>
          <p:cNvSpPr>
            <a:spLocks xmlns:a="http://schemas.openxmlformats.org/drawingml/2006/main" noGrp="1"/>
          </p:cNvSpPr>
          <p:nvPr/>
        </p:nvSpPr>
        <p:spPr>
          <a:xfrm xmlns:a="http://schemas.openxmlformats.org/drawingml/2006/main">
            <a:off x="609600" y="261937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¿Cuándo entro</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a trabajar?</a:t>
            </a:r>
          </a:p>
        </p:txBody>
      </p:sp>
      <p:sp>
        <p:nvSpPr>
          <p:cNvPr id="5" name="">
            <a:extLst xmlns:a="http://schemas.openxmlformats.org/drawingml/2006/main">
              <a:ext uri="{FF2B5EF4-FFF2-40B4-BE49-F238E27FC236}">
                <a16:creationId xmlns:a16="http://schemas.microsoft.com/office/drawing/2014/main" id="{AF0EBCA4-6B5C-4632-B1A5-06A545D4FB61}"/>
              </a:ext>
            </a:extLst>
          </p:cNvPr>
          <p:cNvSpPr>
            <a:spLocks xmlns:a="http://schemas.openxmlformats.org/drawingml/2006/main" noGrp="1"/>
          </p:cNvSpPr>
          <p:nvPr/>
        </p:nvSpPr>
        <p:spPr>
          <a:xfrm xmlns:a="http://schemas.openxmlformats.org/drawingml/2006/main">
            <a:off x="6477000" y="261937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¿Qué lote necesita</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una recorrida?</a:t>
            </a:r>
          </a:p>
        </p:txBody>
      </p:sp>
      <p:sp>
        <p:nvSpPr>
          <p:cNvPr id="6" name="">
            <a:extLst xmlns:a="http://schemas.openxmlformats.org/drawingml/2006/main">
              <a:ext uri="{FF2B5EF4-FFF2-40B4-BE49-F238E27FC236}">
                <a16:creationId xmlns:a16="http://schemas.microsoft.com/office/drawing/2014/main" id="{B059F875-F9F1-48C0-80AA-C253CB7495E1}"/>
              </a:ext>
            </a:extLst>
          </p:cNvPr>
          <p:cNvSpPr>
            <a:spLocks xmlns:a="http://schemas.openxmlformats.org/drawingml/2006/main" noGrp="1"/>
          </p:cNvSpPr>
          <p:nvPr/>
        </p:nvSpPr>
        <p:spPr>
          <a:xfrm xmlns:a="http://schemas.openxmlformats.org/drawingml/2006/main">
            <a:off x="609600" y="43815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¿Cómo viene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el agua?</a:t>
            </a:r>
          </a:p>
        </p:txBody>
      </p:sp>
      <p:sp>
        <p:nvSpPr>
          <p:cNvPr id="7" name="">
            <a:extLst xmlns:a="http://schemas.openxmlformats.org/drawingml/2006/main">
              <a:ext uri="{FF2B5EF4-FFF2-40B4-BE49-F238E27FC236}">
                <a16:creationId xmlns:a16="http://schemas.microsoft.com/office/drawing/2014/main" id="{CEAAD2CC-21B9-4EB6-92D7-C4C22177CBE4}"/>
              </a:ext>
            </a:extLst>
          </p:cNvPr>
          <p:cNvSpPr>
            <a:spLocks xmlns:a="http://schemas.openxmlformats.org/drawingml/2006/main" noGrp="1"/>
          </p:cNvSpPr>
          <p:nvPr/>
        </p:nvSpPr>
        <p:spPr>
          <a:xfrm xmlns:a="http://schemas.openxmlformats.org/drawingml/2006/main">
            <a:off x="6477000" y="43815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¿Con qué forraje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puedo contar?</a:t>
            </a:r>
          </a:p>
        </p:txBody>
      </p:sp>
    </p:spTree>
    <p:extLst>
      <p:ext uri="{BB962C8B-B14F-4D97-AF65-F5344CB8AC3E}">
        <p14:creationId xmlns:p14="http://schemas.microsoft.com/office/powerpoint/2010/main" val="1322838328"/>
      </p:ext>
    </p:extLst>
  </p:cSld>
</p:sld>
</file>

<file path=ppt/slides/slide3.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246867-10E2-47FF-902E-258B30368393}"/>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111DECF8-64FD-4815-B861-ECFFA8E3FE0C}"/>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5871160-E8C0-4536-881C-8DC293F64418}"/>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Econexo reúne la información por lote</a:t>
            </a:r>
          </a:p>
        </p:txBody>
      </p:sp>
      <p:sp>
        <p:nvSpPr>
          <p:cNvPr id="4" name="">
            <a:extLst xmlns:a="http://schemas.openxmlformats.org/drawingml/2006/main">
              <a:ext uri="{FF2B5EF4-FFF2-40B4-BE49-F238E27FC236}">
                <a16:creationId xmlns:a16="http://schemas.microsoft.com/office/drawing/2014/main" id="{12105382-1023-4052-9D06-B99DBAEB8EA0}"/>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Tu lote, con contexto</a:t>
            </a:r>
          </a:p>
        </p:txBody>
      </p:sp>
      <p:sp>
        <p:nvSpPr>
          <p:cNvPr id="5" name="">
            <a:extLst xmlns:a="http://schemas.openxmlformats.org/drawingml/2006/main">
              <a:ext uri="{FF2B5EF4-FFF2-40B4-BE49-F238E27FC236}">
                <a16:creationId xmlns:a16="http://schemas.microsoft.com/office/drawing/2014/main" id="{367AC3C5-CEE6-4D62-887C-CA26FF3162E3}"/>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Cultivo, superficie y señales para preparar la recorrida.</a:t>
            </a:r>
          </a:p>
        </p:txBody>
      </p:sp>
      <p:pic>
        <p:nvPicPr>
          <p:cNvPr id="6" name="">
            <a:extLst xmlns:a="http://schemas.openxmlformats.org/drawingml/2006/main">
              <a:ext uri="{FF2B5EF4-FFF2-40B4-BE49-F238E27FC236}">
                <a16:creationId xmlns:a16="http://schemas.microsoft.com/office/drawing/2014/main" id="{133D5886-98A3-4FC5-9EC3-0883C3A5DD20}"/>
              </a:ext>
            </a:extLst>
          </p:cNvPr>
          <p:cNvPicPr>
            <a:picLocks xmlns:a="http://schemas.openxmlformats.org/drawingml/2006/main" noChangeAspect="1"/>
          </p:cNvPicPr>
          <p:nvPr/>
        </p:nvPicPr>
        <p:blipFill>
          <a:blip xmlns:r="http://schemas.openxmlformats.org/officeDocument/2006/relationships" xmlns:a="http://schemas.openxmlformats.org/drawingml/2006/main" r:embed="Rf5c29b44d90441fa"/>
          <a:srcRect xmlns:a="http://schemas.openxmlformats.org/drawingml/2006/main" l="3500" t="23500" r="6000" b="470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C3EB6C6-7D89-4267-B3C0-938C09508035}"/>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783793473"/>
      </p:ext>
    </p:extLst>
  </p:cSld>
</p:sld>
</file>

<file path=ppt/slides/slide4.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E591DF-FB98-4A3D-9053-ECAF8A4106BC}"/>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4CD9430D-1630-4561-B725-64CA1A373EF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ABA926C-6474-444C-8922-95135453425E}"/>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Cultivos y ganadería, en la misma plataforma</a:t>
            </a:r>
          </a:p>
        </p:txBody>
      </p:sp>
      <p:sp>
        <p:nvSpPr>
          <p:cNvPr id="4" name="">
            <a:extLst xmlns:a="http://schemas.openxmlformats.org/drawingml/2006/main">
              <a:ext uri="{FF2B5EF4-FFF2-40B4-BE49-F238E27FC236}">
                <a16:creationId xmlns:a16="http://schemas.microsoft.com/office/drawing/2014/main" id="{34FBEEC9-2426-4F51-ADC9-DFC8E2E62EBF}"/>
              </a:ext>
            </a:extLst>
          </p:cNvPr>
          <p:cNvSpPr>
            <a:spLocks xmlns:a="http://schemas.openxmlformats.org/drawingml/2006/main" noGrp="1"/>
          </p:cNvSpPr>
          <p:nvPr/>
        </p:nvSpPr>
        <p:spPr>
          <a:xfrm xmlns:a="http://schemas.openxmlformats.org/drawingml/2006/main">
            <a:off x="609600" y="26670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8FF06A"/>
                </a:solidFill>
                <a:latin typeface="Arial"/>
                <a:ea typeface="Arial"/>
                <a:cs typeface="Arial"/>
              </a:defRPr>
            </a:defPPr>
            <a:lvl1pPr>
              <a:defRPr sz="3600" b="1">
                <a:solidFill>
                  <a:srgbClr val="8FF06A"/>
                </a:solidFill>
                <a:latin typeface="Arial"/>
                <a:ea typeface="Arial"/>
                <a:cs typeface="Arial"/>
              </a:defRPr>
            </a:lvl1pPr>
            <a:lvl2pPr>
              <a:defRPr sz="3600" b="1">
                <a:solidFill>
                  <a:srgbClr val="8FF06A"/>
                </a:solidFill>
                <a:latin typeface="Arial"/>
                <a:ea typeface="Arial"/>
                <a:cs typeface="Arial"/>
              </a:defRPr>
            </a:lvl2pPr>
            <a:lvl3pPr>
              <a:defRPr sz="3600" b="1">
                <a:solidFill>
                  <a:srgbClr val="8FF06A"/>
                </a:solidFill>
                <a:latin typeface="Arial"/>
                <a:ea typeface="Arial"/>
                <a:cs typeface="Arial"/>
              </a:defRPr>
            </a:lvl3pPr>
            <a:lvl4pPr>
              <a:defRPr sz="3600" b="1">
                <a:solidFill>
                  <a:srgbClr val="8FF06A"/>
                </a:solidFill>
                <a:latin typeface="Arial"/>
                <a:ea typeface="Arial"/>
                <a:cs typeface="Arial"/>
              </a:defRPr>
            </a:lvl4pPr>
            <a:lvl5pPr>
              <a:defRPr sz="3600" b="1">
                <a:solidFill>
                  <a:srgbClr val="8FF06A"/>
                </a:solidFill>
                <a:latin typeface="Arial"/>
                <a:ea typeface="Arial"/>
                <a:cs typeface="Arial"/>
              </a:defRPr>
            </a:lvl5pPr>
            <a:lvl6pPr>
              <a:defRPr sz="3600" b="1">
                <a:solidFill>
                  <a:srgbClr val="8FF06A"/>
                </a:solidFill>
                <a:latin typeface="Arial"/>
                <a:ea typeface="Arial"/>
                <a:cs typeface="Arial"/>
              </a:defRPr>
            </a:lvl6pPr>
            <a:lvl7pPr>
              <a:defRPr sz="3600" b="1">
                <a:solidFill>
                  <a:srgbClr val="8FF06A"/>
                </a:solidFill>
                <a:latin typeface="Arial"/>
                <a:ea typeface="Arial"/>
                <a:cs typeface="Arial"/>
              </a:defRPr>
            </a:lvl7pPr>
            <a:lvl8pPr>
              <a:defRPr sz="3600" b="1">
                <a:solidFill>
                  <a:srgbClr val="8FF06A"/>
                </a:solidFill>
                <a:latin typeface="Arial"/>
                <a:ea typeface="Arial"/>
                <a:cs typeface="Arial"/>
              </a:defRPr>
            </a:lvl8pPr>
            <a:lvl9pPr>
              <a:defRPr sz="3600" b="1">
                <a:solidFill>
                  <a:srgbClr val="8FF06A"/>
                </a:solidFill>
                <a:latin typeface="Arial"/>
                <a:ea typeface="Arial"/>
                <a:cs typeface="Arial"/>
              </a:defRPr>
            </a:lvl9pPr>
          </a:lstStyle>
          <a:p xmlns:a="http://schemas.openxmlformats.org/drawingml/2006/main">
            <a:pPr>
              <a:defRPr sz="3600" b="1">
                <a:solidFill>
                  <a:srgbClr val="8FF06A"/>
                </a:solidFill>
                <a:latin typeface="Arial"/>
                <a:ea typeface="Arial"/>
                <a:cs typeface="Arial"/>
              </a:defRPr>
            </a:pPr>
            <a:r>
              <a:rPr sz="3600" b="1">
                <a:solidFill>
                  <a:srgbClr val="8FF06A"/>
                </a:solidFill>
                <a:latin typeface="Arial"/>
                <a:ea typeface="Arial"/>
                <a:cs typeface="Arial"/>
              </a:rPr>
              <a:t>EcoNexo AG</a:t>
            </a:r>
          </a:p>
        </p:txBody>
      </p:sp>
      <p:sp>
        <p:nvSpPr>
          <p:cNvPr id="5" name="">
            <a:extLst xmlns:a="http://schemas.openxmlformats.org/drawingml/2006/main">
              <a:ext uri="{FF2B5EF4-FFF2-40B4-BE49-F238E27FC236}">
                <a16:creationId xmlns:a16="http://schemas.microsoft.com/office/drawing/2014/main" id="{743A66EF-23DB-4E70-8115-C1EA9C288C18}"/>
              </a:ext>
            </a:extLst>
          </p:cNvPr>
          <p:cNvSpPr>
            <a:spLocks xmlns:a="http://schemas.openxmlformats.org/drawingml/2006/main" noGrp="1"/>
          </p:cNvSpPr>
          <p:nvPr/>
        </p:nvSpPr>
        <p:spPr>
          <a:xfrm xmlns:a="http://schemas.openxmlformats.org/drawingml/2006/main">
            <a:off x="609600" y="3619500"/>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del cultivo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Agua y pronóstico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Condiciones para las labores</a:t>
            </a:r>
          </a:p>
        </p:txBody>
      </p:sp>
      <p:sp>
        <p:nvSpPr>
          <p:cNvPr id="6" name="">
            <a:extLst xmlns:a="http://schemas.openxmlformats.org/drawingml/2006/main">
              <a:ext uri="{FF2B5EF4-FFF2-40B4-BE49-F238E27FC236}">
                <a16:creationId xmlns:a16="http://schemas.microsoft.com/office/drawing/2014/main" id="{33DCC190-F90D-4ECE-B767-E2066267E5AC}"/>
              </a:ext>
            </a:extLst>
          </p:cNvPr>
          <p:cNvSpPr>
            <a:spLocks xmlns:a="http://schemas.openxmlformats.org/drawingml/2006/main" noGrp="1"/>
          </p:cNvSpPr>
          <p:nvPr/>
        </p:nvSpPr>
        <p:spPr>
          <a:xfrm xmlns:a="http://schemas.openxmlformats.org/drawingml/2006/main">
            <a:off x="6572250" y="26670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33DAFF"/>
                </a:solidFill>
                <a:latin typeface="Arial"/>
                <a:ea typeface="Arial"/>
                <a:cs typeface="Arial"/>
              </a:defRPr>
            </a:defPPr>
            <a:lvl1pPr>
              <a:defRPr sz="3600" b="1">
                <a:solidFill>
                  <a:srgbClr val="33DAFF"/>
                </a:solidFill>
                <a:latin typeface="Arial"/>
                <a:ea typeface="Arial"/>
                <a:cs typeface="Arial"/>
              </a:defRPr>
            </a:lvl1pPr>
            <a:lvl2pPr>
              <a:defRPr sz="3600" b="1">
                <a:solidFill>
                  <a:srgbClr val="33DAFF"/>
                </a:solidFill>
                <a:latin typeface="Arial"/>
                <a:ea typeface="Arial"/>
                <a:cs typeface="Arial"/>
              </a:defRPr>
            </a:lvl2pPr>
            <a:lvl3pPr>
              <a:defRPr sz="3600" b="1">
                <a:solidFill>
                  <a:srgbClr val="33DAFF"/>
                </a:solidFill>
                <a:latin typeface="Arial"/>
                <a:ea typeface="Arial"/>
                <a:cs typeface="Arial"/>
              </a:defRPr>
            </a:lvl3pPr>
            <a:lvl4pPr>
              <a:defRPr sz="3600" b="1">
                <a:solidFill>
                  <a:srgbClr val="33DAFF"/>
                </a:solidFill>
                <a:latin typeface="Arial"/>
                <a:ea typeface="Arial"/>
                <a:cs typeface="Arial"/>
              </a:defRPr>
            </a:lvl4pPr>
            <a:lvl5pPr>
              <a:defRPr sz="3600" b="1">
                <a:solidFill>
                  <a:srgbClr val="33DAFF"/>
                </a:solidFill>
                <a:latin typeface="Arial"/>
                <a:ea typeface="Arial"/>
                <a:cs typeface="Arial"/>
              </a:defRPr>
            </a:lvl5pPr>
            <a:lvl6pPr>
              <a:defRPr sz="3600" b="1">
                <a:solidFill>
                  <a:srgbClr val="33DAFF"/>
                </a:solidFill>
                <a:latin typeface="Arial"/>
                <a:ea typeface="Arial"/>
                <a:cs typeface="Arial"/>
              </a:defRPr>
            </a:lvl6pPr>
            <a:lvl7pPr>
              <a:defRPr sz="3600" b="1">
                <a:solidFill>
                  <a:srgbClr val="33DAFF"/>
                </a:solidFill>
                <a:latin typeface="Arial"/>
                <a:ea typeface="Arial"/>
                <a:cs typeface="Arial"/>
              </a:defRPr>
            </a:lvl7pPr>
            <a:lvl8pPr>
              <a:defRPr sz="3600" b="1">
                <a:solidFill>
                  <a:srgbClr val="33DAFF"/>
                </a:solidFill>
                <a:latin typeface="Arial"/>
                <a:ea typeface="Arial"/>
                <a:cs typeface="Arial"/>
              </a:defRPr>
            </a:lvl8pPr>
            <a:lvl9pPr>
              <a:defRPr sz="3600" b="1">
                <a:solidFill>
                  <a:srgbClr val="33DAFF"/>
                </a:solidFill>
                <a:latin typeface="Arial"/>
                <a:ea typeface="Arial"/>
                <a:cs typeface="Arial"/>
              </a:defRPr>
            </a:lvl9pPr>
          </a:lstStyle>
          <a:p xmlns:a="http://schemas.openxmlformats.org/drawingml/2006/main">
            <a:pPr>
              <a:defRPr sz="3600" b="1">
                <a:solidFill>
                  <a:srgbClr val="33DAFF"/>
                </a:solidFill>
                <a:latin typeface="Arial"/>
                <a:ea typeface="Arial"/>
                <a:cs typeface="Arial"/>
              </a:defRPr>
            </a:pPr>
            <a:r>
              <a:rPr sz="3600" b="1">
                <a:solidFill>
                  <a:srgbClr val="33DAFF"/>
                </a:solidFill>
                <a:latin typeface="Arial"/>
                <a:ea typeface="Arial"/>
                <a:cs typeface="Arial"/>
              </a:rPr>
              <a:t>EcoCampo</a:t>
            </a:r>
          </a:p>
        </p:txBody>
      </p:sp>
      <p:sp>
        <p:nvSpPr>
          <p:cNvPr id="7" name="">
            <a:extLst xmlns:a="http://schemas.openxmlformats.org/drawingml/2006/main">
              <a:ext uri="{FF2B5EF4-FFF2-40B4-BE49-F238E27FC236}">
                <a16:creationId xmlns:a16="http://schemas.microsoft.com/office/drawing/2014/main" id="{5700ACC4-CE23-4F60-8D8F-30A8430A96BB}"/>
              </a:ext>
            </a:extLst>
          </p:cNvPr>
          <p:cNvSpPr>
            <a:spLocks xmlns:a="http://schemas.openxmlformats.org/drawingml/2006/main" noGrp="1"/>
          </p:cNvSpPr>
          <p:nvPr/>
        </p:nvSpPr>
        <p:spPr>
          <a:xfrm xmlns:a="http://schemas.openxmlformats.org/drawingml/2006/main">
            <a:off x="6572250" y="361950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Evaluación del terreno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 la vegetación</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Presupuesto de forraje</a:t>
            </a:r>
          </a:p>
        </p:txBody>
      </p:sp>
      <p:sp>
        <p:nvSpPr>
          <p:cNvPr id="8" name="">
            <a:extLst xmlns:a="http://schemas.openxmlformats.org/drawingml/2006/main">
              <a:ext uri="{FF2B5EF4-FFF2-40B4-BE49-F238E27FC236}">
                <a16:creationId xmlns:a16="http://schemas.microsoft.com/office/drawing/2014/main" id="{50985B3C-D6FE-4847-AC78-45AD01F8CB89}"/>
              </a:ext>
            </a:extLst>
          </p:cNvPr>
          <p:cNvSpPr>
            <a:spLocks xmlns:a="http://schemas.openxmlformats.org/drawingml/2006/main" noGrp="1"/>
          </p:cNvSpPr>
          <p:nvPr/>
        </p:nvSpPr>
        <p:spPr>
          <a:xfrm xmlns:a="http://schemas.openxmlformats.org/drawingml/2006/main">
            <a:off x="60960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B6CDC3"/>
                </a:solidFill>
                <a:latin typeface="Arial"/>
                <a:ea typeface="Arial"/>
                <a:cs typeface="Arial"/>
              </a:defRPr>
            </a:defPPr>
            <a:lvl1pPr>
              <a:defRPr sz="1875" b="0">
                <a:solidFill>
                  <a:srgbClr val="B6CDC3"/>
                </a:solidFill>
                <a:latin typeface="Arial"/>
                <a:ea typeface="Arial"/>
                <a:cs typeface="Arial"/>
              </a:defRPr>
            </a:lvl1pPr>
            <a:lvl2pPr>
              <a:defRPr sz="1875" b="0">
                <a:solidFill>
                  <a:srgbClr val="B6CDC3"/>
                </a:solidFill>
                <a:latin typeface="Arial"/>
                <a:ea typeface="Arial"/>
                <a:cs typeface="Arial"/>
              </a:defRPr>
            </a:lvl2pPr>
            <a:lvl3pPr>
              <a:defRPr sz="1875" b="0">
                <a:solidFill>
                  <a:srgbClr val="B6CDC3"/>
                </a:solidFill>
                <a:latin typeface="Arial"/>
                <a:ea typeface="Arial"/>
                <a:cs typeface="Arial"/>
              </a:defRPr>
            </a:lvl3pPr>
            <a:lvl4pPr>
              <a:defRPr sz="1875" b="0">
                <a:solidFill>
                  <a:srgbClr val="B6CDC3"/>
                </a:solidFill>
                <a:latin typeface="Arial"/>
                <a:ea typeface="Arial"/>
                <a:cs typeface="Arial"/>
              </a:defRPr>
            </a:lvl4pPr>
            <a:lvl5pPr>
              <a:defRPr sz="1875" b="0">
                <a:solidFill>
                  <a:srgbClr val="B6CDC3"/>
                </a:solidFill>
                <a:latin typeface="Arial"/>
                <a:ea typeface="Arial"/>
                <a:cs typeface="Arial"/>
              </a:defRPr>
            </a:lvl5pPr>
            <a:lvl6pPr>
              <a:defRPr sz="1875" b="0">
                <a:solidFill>
                  <a:srgbClr val="B6CDC3"/>
                </a:solidFill>
                <a:latin typeface="Arial"/>
                <a:ea typeface="Arial"/>
                <a:cs typeface="Arial"/>
              </a:defRPr>
            </a:lvl6pPr>
            <a:lvl7pPr>
              <a:defRPr sz="1875" b="0">
                <a:solidFill>
                  <a:srgbClr val="B6CDC3"/>
                </a:solidFill>
                <a:latin typeface="Arial"/>
                <a:ea typeface="Arial"/>
                <a:cs typeface="Arial"/>
              </a:defRPr>
            </a:lvl7pPr>
            <a:lvl8pPr>
              <a:defRPr sz="1875" b="0">
                <a:solidFill>
                  <a:srgbClr val="B6CDC3"/>
                </a:solidFill>
                <a:latin typeface="Arial"/>
                <a:ea typeface="Arial"/>
                <a:cs typeface="Arial"/>
              </a:defRPr>
            </a:lvl8pPr>
            <a:lvl9pPr>
              <a:defRPr sz="1875" b="0">
                <a:solidFill>
                  <a:srgbClr val="B6CDC3"/>
                </a:solidFill>
                <a:latin typeface="Arial"/>
                <a:ea typeface="Arial"/>
                <a:cs typeface="Arial"/>
              </a:defRPr>
            </a:lvl9pPr>
          </a:lstStyle>
          <a:p xmlns:a="http://schemas.openxmlformats.org/drawingml/2006/main">
            <a:pPr>
              <a:defRPr sz="1875" b="0">
                <a:solidFill>
                  <a:srgbClr val="B6CDC3"/>
                </a:solidFill>
                <a:latin typeface="Arial"/>
                <a:ea typeface="Arial"/>
                <a:cs typeface="Arial"/>
              </a:defRPr>
            </a:pPr>
            <a:r>
              <a:rPr sz="1875" b="0">
                <a:solidFill>
                  <a:srgbClr val="B6CDC3"/>
                </a:solidFill>
                <a:latin typeface="Arial"/>
                <a:ea typeface="Arial"/>
                <a:cs typeface="Arial"/>
              </a:rPr>
              <a:t>Los módulos comparten los lotes registrados</a:t>
            </a:r>
          </a:p>
        </p:txBody>
      </p:sp>
    </p:spTree>
    <p:extLst>
      <p:ext uri="{BB962C8B-B14F-4D97-AF65-F5344CB8AC3E}">
        <p14:creationId xmlns:p14="http://schemas.microsoft.com/office/powerpoint/2010/main" val="1300898139"/>
      </p:ext>
    </p:extLst>
  </p:cSld>
</p:sld>
</file>

<file path=ppt/slides/slide5.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67598C-96A3-40B8-ADA9-71449FD1C940}"/>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F3F31D8D-11BF-413D-86E9-BD3E9EB8DE66}"/>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D961FB8-E983-4055-B513-42DB4B12B1B3}"/>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Las labores necesitan una buena ventana</a:t>
            </a:r>
          </a:p>
        </p:txBody>
      </p:sp>
      <p:sp>
        <p:nvSpPr>
          <p:cNvPr id="4" name="">
            <a:extLst xmlns:a="http://schemas.openxmlformats.org/drawingml/2006/main">
              <a:ext uri="{FF2B5EF4-FFF2-40B4-BE49-F238E27FC236}">
                <a16:creationId xmlns:a16="http://schemas.microsoft.com/office/drawing/2014/main" id="{3CE61D0B-7F41-4E5C-8985-18766E666ED5}"/>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Avisos para planificar</a:t>
            </a:r>
          </a:p>
        </p:txBody>
      </p:sp>
      <p:sp>
        <p:nvSpPr>
          <p:cNvPr id="5" name="">
            <a:extLst xmlns:a="http://schemas.openxmlformats.org/drawingml/2006/main">
              <a:ext uri="{FF2B5EF4-FFF2-40B4-BE49-F238E27FC236}">
                <a16:creationId xmlns:a16="http://schemas.microsoft.com/office/drawing/2014/main" id="{E6B4403A-6FBA-4E52-A2E9-A60FD2168DFA}"/>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53D31"/>
                </a:solidFill>
                <a:latin typeface="Arial"/>
                <a:ea typeface="Arial"/>
                <a:cs typeface="Arial"/>
              </a:defRPr>
            </a:defPPr>
            <a:lvl1pPr>
              <a:defRPr sz="2175" b="0">
                <a:solidFill>
                  <a:srgbClr val="153D31"/>
                </a:solidFill>
                <a:latin typeface="Arial"/>
                <a:ea typeface="Arial"/>
                <a:cs typeface="Arial"/>
              </a:defRPr>
            </a:lvl1pPr>
            <a:lvl2pPr>
              <a:defRPr sz="2175" b="0">
                <a:solidFill>
                  <a:srgbClr val="153D31"/>
                </a:solidFill>
                <a:latin typeface="Arial"/>
                <a:ea typeface="Arial"/>
                <a:cs typeface="Arial"/>
              </a:defRPr>
            </a:lvl2pPr>
            <a:lvl3pPr>
              <a:defRPr sz="2175" b="0">
                <a:solidFill>
                  <a:srgbClr val="153D31"/>
                </a:solidFill>
                <a:latin typeface="Arial"/>
                <a:ea typeface="Arial"/>
                <a:cs typeface="Arial"/>
              </a:defRPr>
            </a:lvl3pPr>
            <a:lvl4pPr>
              <a:defRPr sz="2175" b="0">
                <a:solidFill>
                  <a:srgbClr val="153D31"/>
                </a:solidFill>
                <a:latin typeface="Arial"/>
                <a:ea typeface="Arial"/>
                <a:cs typeface="Arial"/>
              </a:defRPr>
            </a:lvl4pPr>
            <a:lvl5pPr>
              <a:defRPr sz="2175" b="0">
                <a:solidFill>
                  <a:srgbClr val="153D31"/>
                </a:solidFill>
                <a:latin typeface="Arial"/>
                <a:ea typeface="Arial"/>
                <a:cs typeface="Arial"/>
              </a:defRPr>
            </a:lvl5pPr>
            <a:lvl6pPr>
              <a:defRPr sz="2175" b="0">
                <a:solidFill>
                  <a:srgbClr val="153D31"/>
                </a:solidFill>
                <a:latin typeface="Arial"/>
                <a:ea typeface="Arial"/>
                <a:cs typeface="Arial"/>
              </a:defRPr>
            </a:lvl6pPr>
            <a:lvl7pPr>
              <a:defRPr sz="2175" b="0">
                <a:solidFill>
                  <a:srgbClr val="153D31"/>
                </a:solidFill>
                <a:latin typeface="Arial"/>
                <a:ea typeface="Arial"/>
                <a:cs typeface="Arial"/>
              </a:defRPr>
            </a:lvl7pPr>
            <a:lvl8pPr>
              <a:defRPr sz="2175" b="0">
                <a:solidFill>
                  <a:srgbClr val="153D31"/>
                </a:solidFill>
                <a:latin typeface="Arial"/>
                <a:ea typeface="Arial"/>
                <a:cs typeface="Arial"/>
              </a:defRPr>
            </a:lvl8pPr>
            <a:lvl9pPr>
              <a:defRPr sz="2175" b="0">
                <a:solidFill>
                  <a:srgbClr val="153D31"/>
                </a:solidFill>
                <a:latin typeface="Arial"/>
                <a:ea typeface="Arial"/>
                <a:cs typeface="Arial"/>
              </a:defRPr>
            </a:lvl9pPr>
          </a:lstStyle>
          <a:p xmlns:a="http://schemas.openxmlformats.org/drawingml/2006/main">
            <a:pPr>
              <a:defRPr sz="2175" b="0">
                <a:solidFill>
                  <a:srgbClr val="153D31"/>
                </a:solidFill>
                <a:latin typeface="Arial"/>
                <a:ea typeface="Arial"/>
                <a:cs typeface="Arial"/>
              </a:defRPr>
            </a:pPr>
            <a:r>
              <a:rPr sz="2175" b="0">
                <a:solidFill>
                  <a:srgbClr val="153D31"/>
                </a:solidFill>
                <a:latin typeface="Arial"/>
                <a:ea typeface="Arial"/>
                <a:cs typeface="Arial"/>
              </a:rPr>
              <a:t>Condiciones a revisar antes de organizar una labor.</a:t>
            </a:r>
          </a:p>
        </p:txBody>
      </p:sp>
      <p:pic>
        <p:nvPicPr>
          <p:cNvPr id="6" name="">
            <a:extLst xmlns:a="http://schemas.openxmlformats.org/drawingml/2006/main">
              <a:ext uri="{FF2B5EF4-FFF2-40B4-BE49-F238E27FC236}">
                <a16:creationId xmlns:a16="http://schemas.microsoft.com/office/drawing/2014/main" id="{753BE63C-B0F0-4FAB-8EF7-DD1E5CF79E77}"/>
              </a:ext>
            </a:extLst>
          </p:cNvPr>
          <p:cNvPicPr>
            <a:picLocks xmlns:a="http://schemas.openxmlformats.org/drawingml/2006/main" noChangeAspect="1"/>
          </p:cNvPicPr>
          <p:nvPr/>
        </p:nvPicPr>
        <p:blipFill>
          <a:blip xmlns:r="http://schemas.openxmlformats.org/officeDocument/2006/relationships" xmlns:a="http://schemas.openxmlformats.org/drawingml/2006/main" r:embed="R024abc5bb0524fa8"/>
          <a:srcRect xmlns:a="http://schemas.openxmlformats.org/drawingml/2006/main" l="3500" t="41000" r="6000" b="170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8665E49-BD7C-4F7B-A182-F973C370E241}"/>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153D31"/>
                </a:solidFill>
                <a:latin typeface="Arial"/>
                <a:ea typeface="Arial"/>
                <a:cs typeface="Arial"/>
              </a:defRPr>
            </a:defPPr>
            <a:lvl1pPr>
              <a:defRPr sz="1350" b="0">
                <a:solidFill>
                  <a:srgbClr val="153D31"/>
                </a:solidFill>
                <a:latin typeface="Arial"/>
                <a:ea typeface="Arial"/>
                <a:cs typeface="Arial"/>
              </a:defRPr>
            </a:lvl1pPr>
            <a:lvl2pPr>
              <a:defRPr sz="1350" b="0">
                <a:solidFill>
                  <a:srgbClr val="153D31"/>
                </a:solidFill>
                <a:latin typeface="Arial"/>
                <a:ea typeface="Arial"/>
                <a:cs typeface="Arial"/>
              </a:defRPr>
            </a:lvl2pPr>
            <a:lvl3pPr>
              <a:defRPr sz="1350" b="0">
                <a:solidFill>
                  <a:srgbClr val="153D31"/>
                </a:solidFill>
                <a:latin typeface="Arial"/>
                <a:ea typeface="Arial"/>
                <a:cs typeface="Arial"/>
              </a:defRPr>
            </a:lvl3pPr>
            <a:lvl4pPr>
              <a:defRPr sz="1350" b="0">
                <a:solidFill>
                  <a:srgbClr val="153D31"/>
                </a:solidFill>
                <a:latin typeface="Arial"/>
                <a:ea typeface="Arial"/>
                <a:cs typeface="Arial"/>
              </a:defRPr>
            </a:lvl4pPr>
            <a:lvl5pPr>
              <a:defRPr sz="1350" b="0">
                <a:solidFill>
                  <a:srgbClr val="153D31"/>
                </a:solidFill>
                <a:latin typeface="Arial"/>
                <a:ea typeface="Arial"/>
                <a:cs typeface="Arial"/>
              </a:defRPr>
            </a:lvl5pPr>
            <a:lvl6pPr>
              <a:defRPr sz="1350" b="0">
                <a:solidFill>
                  <a:srgbClr val="153D31"/>
                </a:solidFill>
                <a:latin typeface="Arial"/>
                <a:ea typeface="Arial"/>
                <a:cs typeface="Arial"/>
              </a:defRPr>
            </a:lvl6pPr>
            <a:lvl7pPr>
              <a:defRPr sz="1350" b="0">
                <a:solidFill>
                  <a:srgbClr val="153D31"/>
                </a:solidFill>
                <a:latin typeface="Arial"/>
                <a:ea typeface="Arial"/>
                <a:cs typeface="Arial"/>
              </a:defRPr>
            </a:lvl7pPr>
            <a:lvl8pPr>
              <a:defRPr sz="1350" b="0">
                <a:solidFill>
                  <a:srgbClr val="153D31"/>
                </a:solidFill>
                <a:latin typeface="Arial"/>
                <a:ea typeface="Arial"/>
                <a:cs typeface="Arial"/>
              </a:defRPr>
            </a:lvl8pPr>
            <a:lvl9pPr>
              <a:defRPr sz="1350" b="0">
                <a:solidFill>
                  <a:srgbClr val="153D31"/>
                </a:solidFill>
                <a:latin typeface="Arial"/>
                <a:ea typeface="Arial"/>
                <a:cs typeface="Arial"/>
              </a:defRPr>
            </a:lvl9pPr>
          </a:lstStyle>
          <a:p xmlns:a="http://schemas.openxmlformats.org/drawingml/2006/main">
            <a:pPr>
              <a:defRPr sz="1350" b="0">
                <a:solidFill>
                  <a:srgbClr val="153D31"/>
                </a:solidFill>
                <a:latin typeface="Arial"/>
                <a:ea typeface="Arial"/>
                <a:cs typeface="Arial"/>
              </a:defRPr>
            </a:pPr>
            <a:r>
              <a:rPr sz="1350" b="0">
                <a:solidFill>
                  <a:srgbClr val="153D31"/>
                </a:solidFill>
                <a:latin typeface="Arial"/>
                <a:ea typeface="Arial"/>
                <a:cs typeface="Arial"/>
              </a:rPr>
              <a:t>Interfaz de Econexo con datos de demostración</a:t>
            </a:r>
          </a:p>
        </p:txBody>
      </p:sp>
    </p:spTree>
    <p:extLst>
      <p:ext uri="{BB962C8B-B14F-4D97-AF65-F5344CB8AC3E}">
        <p14:creationId xmlns:p14="http://schemas.microsoft.com/office/powerpoint/2010/main" val="1303607132"/>
      </p:ext>
    </p:extLst>
  </p:cSld>
</p:sld>
</file>

<file path=ppt/slides/slide6.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C8D953-6DD4-4848-B79C-0C1845B4E6E2}"/>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07857093-159B-4948-8F73-4E34FD04AAB6}"/>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C47558B-D21B-4332-B5C2-455A836EEEA4}"/>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seguimiento ayuda a priorizar recorridas</a:t>
            </a:r>
          </a:p>
        </p:txBody>
      </p:sp>
      <p:sp>
        <p:nvSpPr>
          <p:cNvPr id="4" name="">
            <a:extLst xmlns:a="http://schemas.openxmlformats.org/drawingml/2006/main">
              <a:ext uri="{FF2B5EF4-FFF2-40B4-BE49-F238E27FC236}">
                <a16:creationId xmlns:a16="http://schemas.microsoft.com/office/drawing/2014/main" id="{BAF6E155-0BEA-4B40-91A9-ED0B904BA02F}"/>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Los próximos días</a:t>
            </a:r>
          </a:p>
        </p:txBody>
      </p:sp>
      <p:sp>
        <p:nvSpPr>
          <p:cNvPr id="5" name="">
            <a:extLst xmlns:a="http://schemas.openxmlformats.org/drawingml/2006/main">
              <a:ext uri="{FF2B5EF4-FFF2-40B4-BE49-F238E27FC236}">
                <a16:creationId xmlns:a16="http://schemas.microsoft.com/office/drawing/2014/main" id="{097D9574-5F14-4577-94C7-9DEED020AE5E}"/>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Lluvia y demanda del cultivo para seguir el agua del lote.</a:t>
            </a:r>
          </a:p>
        </p:txBody>
      </p:sp>
      <p:pic>
        <p:nvPicPr>
          <p:cNvPr id="6" name="">
            <a:extLst xmlns:a="http://schemas.openxmlformats.org/drawingml/2006/main">
              <a:ext uri="{FF2B5EF4-FFF2-40B4-BE49-F238E27FC236}">
                <a16:creationId xmlns:a16="http://schemas.microsoft.com/office/drawing/2014/main" id="{F90A42D1-50EB-4626-8805-1C8322EDE3C6}"/>
              </a:ext>
            </a:extLst>
          </p:cNvPr>
          <p:cNvPicPr>
            <a:picLocks xmlns:a="http://schemas.openxmlformats.org/drawingml/2006/main" noChangeAspect="1"/>
          </p:cNvPicPr>
          <p:nvPr/>
        </p:nvPicPr>
        <p:blipFill>
          <a:blip xmlns:r="http://schemas.openxmlformats.org/officeDocument/2006/relationships" xmlns:a="http://schemas.openxmlformats.org/drawingml/2006/main" r:embed="R46b36819bb4247bf"/>
          <a:srcRect xmlns:a="http://schemas.openxmlformats.org/drawingml/2006/main" l="3500" t="28500" r="6000" b="165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2EBE3D6-DBB3-485B-A49B-C3C7A3E305E6}"/>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961676658"/>
      </p:ext>
    </p:extLst>
  </p:cSld>
</p:sld>
</file>

<file path=ppt/slides/slide7.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6BBB7F-61B5-4AAF-9BCE-C4DF5BF823B1}"/>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F05866FD-F704-4750-B795-3ECA54C3DA58}"/>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F80AF4A-4ED1-47BE-B43B-F775ECBDE689}"/>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pastoreo necesita un presupuesto de forraje</a:t>
            </a:r>
          </a:p>
        </p:txBody>
      </p:sp>
      <p:sp>
        <p:nvSpPr>
          <p:cNvPr id="4" name="">
            <a:extLst xmlns:a="http://schemas.openxmlformats.org/drawingml/2006/main">
              <a:ext uri="{FF2B5EF4-FFF2-40B4-BE49-F238E27FC236}">
                <a16:creationId xmlns:a16="http://schemas.microsoft.com/office/drawing/2014/main" id="{537FEB61-27C3-47DD-8869-6C709F4A0A45}"/>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Un cálculo que se puede revisar</a:t>
            </a:r>
          </a:p>
        </p:txBody>
      </p:sp>
      <p:sp>
        <p:nvSpPr>
          <p:cNvPr id="5" name="">
            <a:extLst xmlns:a="http://schemas.openxmlformats.org/drawingml/2006/main">
              <a:ext uri="{FF2B5EF4-FFF2-40B4-BE49-F238E27FC236}">
                <a16:creationId xmlns:a16="http://schemas.microsoft.com/office/drawing/2014/main" id="{B2CA5865-2086-417D-A358-74A071A3A5A2}"/>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53D31"/>
                </a:solidFill>
                <a:latin typeface="Arial"/>
                <a:ea typeface="Arial"/>
                <a:cs typeface="Arial"/>
              </a:defRPr>
            </a:defPPr>
            <a:lvl1pPr>
              <a:defRPr sz="2175" b="0">
                <a:solidFill>
                  <a:srgbClr val="153D31"/>
                </a:solidFill>
                <a:latin typeface="Arial"/>
                <a:ea typeface="Arial"/>
                <a:cs typeface="Arial"/>
              </a:defRPr>
            </a:lvl1pPr>
            <a:lvl2pPr>
              <a:defRPr sz="2175" b="0">
                <a:solidFill>
                  <a:srgbClr val="153D31"/>
                </a:solidFill>
                <a:latin typeface="Arial"/>
                <a:ea typeface="Arial"/>
                <a:cs typeface="Arial"/>
              </a:defRPr>
            </a:lvl2pPr>
            <a:lvl3pPr>
              <a:defRPr sz="2175" b="0">
                <a:solidFill>
                  <a:srgbClr val="153D31"/>
                </a:solidFill>
                <a:latin typeface="Arial"/>
                <a:ea typeface="Arial"/>
                <a:cs typeface="Arial"/>
              </a:defRPr>
            </a:lvl3pPr>
            <a:lvl4pPr>
              <a:defRPr sz="2175" b="0">
                <a:solidFill>
                  <a:srgbClr val="153D31"/>
                </a:solidFill>
                <a:latin typeface="Arial"/>
                <a:ea typeface="Arial"/>
                <a:cs typeface="Arial"/>
              </a:defRPr>
            </a:lvl4pPr>
            <a:lvl5pPr>
              <a:defRPr sz="2175" b="0">
                <a:solidFill>
                  <a:srgbClr val="153D31"/>
                </a:solidFill>
                <a:latin typeface="Arial"/>
                <a:ea typeface="Arial"/>
                <a:cs typeface="Arial"/>
              </a:defRPr>
            </a:lvl5pPr>
            <a:lvl6pPr>
              <a:defRPr sz="2175" b="0">
                <a:solidFill>
                  <a:srgbClr val="153D31"/>
                </a:solidFill>
                <a:latin typeface="Arial"/>
                <a:ea typeface="Arial"/>
                <a:cs typeface="Arial"/>
              </a:defRPr>
            </a:lvl6pPr>
            <a:lvl7pPr>
              <a:defRPr sz="2175" b="0">
                <a:solidFill>
                  <a:srgbClr val="153D31"/>
                </a:solidFill>
                <a:latin typeface="Arial"/>
                <a:ea typeface="Arial"/>
                <a:cs typeface="Arial"/>
              </a:defRPr>
            </a:lvl7pPr>
            <a:lvl8pPr>
              <a:defRPr sz="2175" b="0">
                <a:solidFill>
                  <a:srgbClr val="153D31"/>
                </a:solidFill>
                <a:latin typeface="Arial"/>
                <a:ea typeface="Arial"/>
                <a:cs typeface="Arial"/>
              </a:defRPr>
            </a:lvl8pPr>
            <a:lvl9pPr>
              <a:defRPr sz="2175" b="0">
                <a:solidFill>
                  <a:srgbClr val="153D31"/>
                </a:solidFill>
                <a:latin typeface="Arial"/>
                <a:ea typeface="Arial"/>
                <a:cs typeface="Arial"/>
              </a:defRPr>
            </a:lvl9pPr>
          </a:lstStyle>
          <a:p xmlns:a="http://schemas.openxmlformats.org/drawingml/2006/main">
            <a:pPr>
              <a:defRPr sz="2175" b="0">
                <a:solidFill>
                  <a:srgbClr val="153D31"/>
                </a:solidFill>
                <a:latin typeface="Arial"/>
                <a:ea typeface="Arial"/>
                <a:cs typeface="Arial"/>
              </a:defRPr>
            </a:pPr>
            <a:r>
              <a:rPr sz="2175" b="0">
                <a:solidFill>
                  <a:srgbClr val="153D31"/>
                </a:solidFill>
                <a:latin typeface="Arial"/>
                <a:ea typeface="Arial"/>
                <a:cs typeface="Arial"/>
              </a:rPr>
              <a:t>Mediciones de forraje y demanda animal como base de la planificación.</a:t>
            </a:r>
          </a:p>
        </p:txBody>
      </p:sp>
      <p:pic>
        <p:nvPicPr>
          <p:cNvPr id="6" name="">
            <a:extLst xmlns:a="http://schemas.openxmlformats.org/drawingml/2006/main">
              <a:ext uri="{FF2B5EF4-FFF2-40B4-BE49-F238E27FC236}">
                <a16:creationId xmlns:a16="http://schemas.microsoft.com/office/drawing/2014/main" id="{F9A35842-867B-4E8C-B8D4-DED5536C7A60}"/>
              </a:ext>
            </a:extLst>
          </p:cNvPr>
          <p:cNvPicPr>
            <a:picLocks xmlns:a="http://schemas.openxmlformats.org/drawingml/2006/main" noChangeAspect="1"/>
          </p:cNvPicPr>
          <p:nvPr/>
        </p:nvPicPr>
        <p:blipFill>
          <a:blip xmlns:r="http://schemas.openxmlformats.org/officeDocument/2006/relationships" xmlns:a="http://schemas.openxmlformats.org/drawingml/2006/main" r:embed="R2ff25d5c831f4013"/>
          <a:srcRect xmlns:a="http://schemas.openxmlformats.org/drawingml/2006/main" l="6500" t="10500" r="10000" b="160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0C7532E-1178-48D4-BD6D-161A89708F6D}"/>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153D31"/>
                </a:solidFill>
                <a:latin typeface="Arial"/>
                <a:ea typeface="Arial"/>
                <a:cs typeface="Arial"/>
              </a:defRPr>
            </a:defPPr>
            <a:lvl1pPr>
              <a:defRPr sz="1350" b="0">
                <a:solidFill>
                  <a:srgbClr val="153D31"/>
                </a:solidFill>
                <a:latin typeface="Arial"/>
                <a:ea typeface="Arial"/>
                <a:cs typeface="Arial"/>
              </a:defRPr>
            </a:lvl1pPr>
            <a:lvl2pPr>
              <a:defRPr sz="1350" b="0">
                <a:solidFill>
                  <a:srgbClr val="153D31"/>
                </a:solidFill>
                <a:latin typeface="Arial"/>
                <a:ea typeface="Arial"/>
                <a:cs typeface="Arial"/>
              </a:defRPr>
            </a:lvl2pPr>
            <a:lvl3pPr>
              <a:defRPr sz="1350" b="0">
                <a:solidFill>
                  <a:srgbClr val="153D31"/>
                </a:solidFill>
                <a:latin typeface="Arial"/>
                <a:ea typeface="Arial"/>
                <a:cs typeface="Arial"/>
              </a:defRPr>
            </a:lvl3pPr>
            <a:lvl4pPr>
              <a:defRPr sz="1350" b="0">
                <a:solidFill>
                  <a:srgbClr val="153D31"/>
                </a:solidFill>
                <a:latin typeface="Arial"/>
                <a:ea typeface="Arial"/>
                <a:cs typeface="Arial"/>
              </a:defRPr>
            </a:lvl4pPr>
            <a:lvl5pPr>
              <a:defRPr sz="1350" b="0">
                <a:solidFill>
                  <a:srgbClr val="153D31"/>
                </a:solidFill>
                <a:latin typeface="Arial"/>
                <a:ea typeface="Arial"/>
                <a:cs typeface="Arial"/>
              </a:defRPr>
            </a:lvl5pPr>
            <a:lvl6pPr>
              <a:defRPr sz="1350" b="0">
                <a:solidFill>
                  <a:srgbClr val="153D31"/>
                </a:solidFill>
                <a:latin typeface="Arial"/>
                <a:ea typeface="Arial"/>
                <a:cs typeface="Arial"/>
              </a:defRPr>
            </a:lvl6pPr>
            <a:lvl7pPr>
              <a:defRPr sz="1350" b="0">
                <a:solidFill>
                  <a:srgbClr val="153D31"/>
                </a:solidFill>
                <a:latin typeface="Arial"/>
                <a:ea typeface="Arial"/>
                <a:cs typeface="Arial"/>
              </a:defRPr>
            </a:lvl7pPr>
            <a:lvl8pPr>
              <a:defRPr sz="1350" b="0">
                <a:solidFill>
                  <a:srgbClr val="153D31"/>
                </a:solidFill>
                <a:latin typeface="Arial"/>
                <a:ea typeface="Arial"/>
                <a:cs typeface="Arial"/>
              </a:defRPr>
            </a:lvl8pPr>
            <a:lvl9pPr>
              <a:defRPr sz="1350" b="0">
                <a:solidFill>
                  <a:srgbClr val="153D31"/>
                </a:solidFill>
                <a:latin typeface="Arial"/>
                <a:ea typeface="Arial"/>
                <a:cs typeface="Arial"/>
              </a:defRPr>
            </a:lvl9pPr>
          </a:lstStyle>
          <a:p xmlns:a="http://schemas.openxmlformats.org/drawingml/2006/main">
            <a:pPr>
              <a:defRPr sz="1350" b="0">
                <a:solidFill>
                  <a:srgbClr val="153D31"/>
                </a:solidFill>
                <a:latin typeface="Arial"/>
                <a:ea typeface="Arial"/>
                <a:cs typeface="Arial"/>
              </a:defRPr>
            </a:pPr>
            <a:r>
              <a:rPr sz="1350" b="0">
                <a:solidFill>
                  <a:srgbClr val="153D31"/>
                </a:solidFill>
                <a:latin typeface="Arial"/>
                <a:ea typeface="Arial"/>
                <a:cs typeface="Arial"/>
              </a:rPr>
              <a:t>Interfaz de Econexo con datos de demostración</a:t>
            </a:r>
          </a:p>
        </p:txBody>
      </p:sp>
    </p:spTree>
    <p:extLst>
      <p:ext uri="{BB962C8B-B14F-4D97-AF65-F5344CB8AC3E}">
        <p14:creationId xmlns:p14="http://schemas.microsoft.com/office/powerpoint/2010/main" val="1957459199"/>
      </p:ext>
    </p:extLst>
  </p:cSld>
</p:sld>
</file>

<file path=ppt/slides/slide8.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24D454-4890-4A50-A30C-F865DAE917B2}"/>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BC5F8E72-0E0E-4A74-A96D-BBE57EE9E6EF}"/>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565A8EF-0C6D-4336-9AFB-AD2D2BA679F3}"/>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Una situación de uso, paso a paso</a:t>
            </a:r>
          </a:p>
        </p:txBody>
      </p:sp>
      <p:sp>
        <p:nvSpPr>
          <p:cNvPr id="4" name="">
            <a:extLst xmlns:a="http://schemas.openxmlformats.org/drawingml/2006/main">
              <a:ext uri="{FF2B5EF4-FFF2-40B4-BE49-F238E27FC236}">
                <a16:creationId xmlns:a16="http://schemas.microsoft.com/office/drawing/2014/main" id="{9FAA4EE9-2474-4E7C-86F5-BB8F6950ABC4}"/>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Cada evaluación deja un registro</a:t>
            </a:r>
          </a:p>
        </p:txBody>
      </p:sp>
      <p:sp>
        <p:nvSpPr>
          <p:cNvPr id="5" name="">
            <a:extLst xmlns:a="http://schemas.openxmlformats.org/drawingml/2006/main">
              <a:ext uri="{FF2B5EF4-FFF2-40B4-BE49-F238E27FC236}">
                <a16:creationId xmlns:a16="http://schemas.microsoft.com/office/drawing/2014/main" id="{D8262DBE-263C-47D6-8EDB-698785E1ED4B}"/>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Fecha, resultado y datos pendientes para la siguiente revisión.</a:t>
            </a:r>
          </a:p>
        </p:txBody>
      </p:sp>
      <p:pic>
        <p:nvPicPr>
          <p:cNvPr id="6" name="">
            <a:extLst xmlns:a="http://schemas.openxmlformats.org/drawingml/2006/main">
              <a:ext uri="{FF2B5EF4-FFF2-40B4-BE49-F238E27FC236}">
                <a16:creationId xmlns:a16="http://schemas.microsoft.com/office/drawing/2014/main" id="{BAE353D7-0679-4A71-9226-1224B54109C1}"/>
              </a:ext>
            </a:extLst>
          </p:cNvPr>
          <p:cNvPicPr>
            <a:picLocks xmlns:a="http://schemas.openxmlformats.org/drawingml/2006/main" noChangeAspect="1"/>
          </p:cNvPicPr>
          <p:nvPr/>
        </p:nvPicPr>
        <p:blipFill>
          <a:blip xmlns:r="http://schemas.openxmlformats.org/officeDocument/2006/relationships" xmlns:a="http://schemas.openxmlformats.org/drawingml/2006/main" r:embed="R14a34f2734814568"/>
          <a:srcRect xmlns:a="http://schemas.openxmlformats.org/drawingml/2006/main" l="4000" t="35000" r="6500" b="140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A30E1E9-674D-4168-AE04-04100AC1DDD7}"/>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1232294408"/>
      </p:ext>
    </p:extLst>
  </p:cSld>
</p:sld>
</file>

<file path=ppt/slides/slide9.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CD0369-2236-4984-B013-637AC5290527}"/>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CBB2641A-D250-4615-847E-338C3CC2A7F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F481549-7A5A-49C6-8B26-63AC0D196741}"/>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valor está en las decisiones cotidianas</a:t>
            </a:r>
          </a:p>
        </p:txBody>
      </p:sp>
      <p:sp>
        <p:nvSpPr>
          <p:cNvPr id="4" name="">
            <a:extLst xmlns:a="http://schemas.openxmlformats.org/drawingml/2006/main">
              <a:ext uri="{FF2B5EF4-FFF2-40B4-BE49-F238E27FC236}">
                <a16:creationId xmlns:a16="http://schemas.microsoft.com/office/drawing/2014/main" id="{2C8D9C7B-4794-4511-841E-6105DE1C1CD7}"/>
              </a:ext>
            </a:extLst>
          </p:cNvPr>
          <p:cNvSpPr>
            <a:spLocks xmlns:a="http://schemas.openxmlformats.org/drawingml/2006/main" noGrp="1"/>
          </p:cNvSpPr>
          <p:nvPr/>
        </p:nvSpPr>
        <p:spPr>
          <a:xfrm xmlns:a="http://schemas.openxmlformats.org/drawingml/2006/main">
            <a:off x="609600" y="26670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Productores</a:t>
            </a:r>
          </a:p>
        </p:txBody>
      </p:sp>
      <p:sp>
        <p:nvSpPr>
          <p:cNvPr id="5" name="">
            <a:extLst xmlns:a="http://schemas.openxmlformats.org/drawingml/2006/main">
              <a:ext uri="{FF2B5EF4-FFF2-40B4-BE49-F238E27FC236}">
                <a16:creationId xmlns:a16="http://schemas.microsoft.com/office/drawing/2014/main" id="{D61A6C48-D861-4251-8643-842EC45B4818}"/>
              </a:ext>
            </a:extLst>
          </p:cNvPr>
          <p:cNvSpPr>
            <a:spLocks xmlns:a="http://schemas.openxmlformats.org/drawingml/2006/main" noGrp="1"/>
          </p:cNvSpPr>
          <p:nvPr/>
        </p:nvSpPr>
        <p:spPr>
          <a:xfrm xmlns:a="http://schemas.openxmlformats.org/drawingml/2006/main">
            <a:off x="4572000" y="2667000"/>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 lugar para revisar la información de sus lotes.</a:t>
            </a:r>
          </a:p>
        </p:txBody>
      </p:sp>
      <p:sp>
        <p:nvSpPr>
          <p:cNvPr id="6" name="">
            <a:extLst xmlns:a="http://schemas.openxmlformats.org/drawingml/2006/main">
              <a:ext uri="{FF2B5EF4-FFF2-40B4-BE49-F238E27FC236}">
                <a16:creationId xmlns:a16="http://schemas.microsoft.com/office/drawing/2014/main" id="{1163E624-7E46-4675-AE3E-480515CA0A9D}"/>
              </a:ext>
            </a:extLst>
          </p:cNvPr>
          <p:cNvSpPr>
            <a:spLocks xmlns:a="http://schemas.openxmlformats.org/drawingml/2006/main" noGrp="1"/>
          </p:cNvSpPr>
          <p:nvPr/>
        </p:nvSpPr>
        <p:spPr>
          <a:xfrm xmlns:a="http://schemas.openxmlformats.org/drawingml/2006/main">
            <a:off x="609600" y="38576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Asesores</a:t>
            </a:r>
          </a:p>
        </p:txBody>
      </p:sp>
      <p:sp>
        <p:nvSpPr>
          <p:cNvPr id="7" name="">
            <a:extLst xmlns:a="http://schemas.openxmlformats.org/drawingml/2006/main">
              <a:ext uri="{FF2B5EF4-FFF2-40B4-BE49-F238E27FC236}">
                <a16:creationId xmlns:a16="http://schemas.microsoft.com/office/drawing/2014/main" id="{7BB7C5A2-B8A0-4305-A3D6-CFB460D58998}"/>
              </a:ext>
            </a:extLst>
          </p:cNvPr>
          <p:cNvSpPr>
            <a:spLocks xmlns:a="http://schemas.openxmlformats.org/drawingml/2006/main" noGrp="1"/>
          </p:cNvSpPr>
          <p:nvPr/>
        </p:nvSpPr>
        <p:spPr>
          <a:xfrm xmlns:a="http://schemas.openxmlformats.org/drawingml/2006/main">
            <a:off x="4572000" y="385762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Más contexto para preparar visitas y recomendaciones.</a:t>
            </a:r>
          </a:p>
        </p:txBody>
      </p:sp>
      <p:sp>
        <p:nvSpPr>
          <p:cNvPr id="8" name="">
            <a:extLst xmlns:a="http://schemas.openxmlformats.org/drawingml/2006/main">
              <a:ext uri="{FF2B5EF4-FFF2-40B4-BE49-F238E27FC236}">
                <a16:creationId xmlns:a16="http://schemas.microsoft.com/office/drawing/2014/main" id="{8ED4081D-85AB-4E16-868F-43987C6FF78E}"/>
              </a:ext>
            </a:extLst>
          </p:cNvPr>
          <p:cNvSpPr>
            <a:spLocks xmlns:a="http://schemas.openxmlformats.org/drawingml/2006/main" noGrp="1"/>
          </p:cNvSpPr>
          <p:nvPr/>
        </p:nvSpPr>
        <p:spPr>
          <a:xfrm xmlns:a="http://schemas.openxmlformats.org/drawingml/2006/main">
            <a:off x="609600" y="50958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Equipos de trabajo</a:t>
            </a:r>
          </a:p>
        </p:txBody>
      </p:sp>
      <p:sp>
        <p:nvSpPr>
          <p:cNvPr id="9" name="">
            <a:extLst xmlns:a="http://schemas.openxmlformats.org/drawingml/2006/main">
              <a:ext uri="{FF2B5EF4-FFF2-40B4-BE49-F238E27FC236}">
                <a16:creationId xmlns:a16="http://schemas.microsoft.com/office/drawing/2014/main" id="{3074C03A-CCB7-466F-B999-CBC26ED8242C}"/>
              </a:ext>
            </a:extLst>
          </p:cNvPr>
          <p:cNvSpPr>
            <a:spLocks xmlns:a="http://schemas.openxmlformats.org/drawingml/2006/main" noGrp="1"/>
          </p:cNvSpPr>
          <p:nvPr/>
        </p:nvSpPr>
        <p:spPr>
          <a:xfrm xmlns:a="http://schemas.openxmlformats.org/drawingml/2006/main">
            <a:off x="4572000" y="5095875"/>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Una referencia común para organizar las tareas.</a:t>
            </a:r>
          </a:p>
        </p:txBody>
      </p:sp>
    </p:spTree>
    <p:extLst>
      <p:ext uri="{BB962C8B-B14F-4D97-AF65-F5344CB8AC3E}">
        <p14:creationId xmlns:p14="http://schemas.microsoft.com/office/powerpoint/2010/main" val="186562413"/>
      </p:ext>
    </p:extLst>
  </p:cSld>
</p:sld>
</file>

<file path=ppt/slides/slide10.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A3EAE1-6F51-48CA-91AE-842A8F7CF74C}"/>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9B263D31-7E81-4F14-B9D5-FFC676204C90}"/>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DE122C9-C003-4B80-B405-672DF7DCD59F}"/>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primer paso puede ser un lote</a:t>
            </a:r>
          </a:p>
        </p:txBody>
      </p:sp>
      <p:sp>
        <p:nvSpPr>
          <p:cNvPr id="4" name="">
            <a:extLst xmlns:a="http://schemas.openxmlformats.org/drawingml/2006/main">
              <a:ext uri="{FF2B5EF4-FFF2-40B4-BE49-F238E27FC236}">
                <a16:creationId xmlns:a16="http://schemas.microsoft.com/office/drawing/2014/main" id="{DCDDC60E-694C-497E-A30B-95082A1F1060}"/>
              </a:ext>
            </a:extLst>
          </p:cNvPr>
          <p:cNvSpPr>
            <a:spLocks xmlns:a="http://schemas.openxmlformats.org/drawingml/2006/main" noGrp="1"/>
          </p:cNvSpPr>
          <p:nvPr/>
        </p:nvSpPr>
        <p:spPr>
          <a:xfrm xmlns:a="http://schemas.openxmlformats.org/drawingml/2006/main">
            <a:off x="609600" y="26193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8FF06A"/>
                </a:solidFill>
                <a:latin typeface="Arial"/>
                <a:ea typeface="Arial"/>
                <a:cs typeface="Arial"/>
              </a:defRPr>
            </a:defPPr>
            <a:lvl1pPr>
              <a:defRPr sz="2850" b="1">
                <a:solidFill>
                  <a:srgbClr val="8FF06A"/>
                </a:solidFill>
                <a:latin typeface="Arial"/>
                <a:ea typeface="Arial"/>
                <a:cs typeface="Arial"/>
              </a:defRPr>
            </a:lvl1pPr>
            <a:lvl2pPr>
              <a:defRPr sz="2850" b="1">
                <a:solidFill>
                  <a:srgbClr val="8FF06A"/>
                </a:solidFill>
                <a:latin typeface="Arial"/>
                <a:ea typeface="Arial"/>
                <a:cs typeface="Arial"/>
              </a:defRPr>
            </a:lvl2pPr>
            <a:lvl3pPr>
              <a:defRPr sz="2850" b="1">
                <a:solidFill>
                  <a:srgbClr val="8FF06A"/>
                </a:solidFill>
                <a:latin typeface="Arial"/>
                <a:ea typeface="Arial"/>
                <a:cs typeface="Arial"/>
              </a:defRPr>
            </a:lvl3pPr>
            <a:lvl4pPr>
              <a:defRPr sz="2850" b="1">
                <a:solidFill>
                  <a:srgbClr val="8FF06A"/>
                </a:solidFill>
                <a:latin typeface="Arial"/>
                <a:ea typeface="Arial"/>
                <a:cs typeface="Arial"/>
              </a:defRPr>
            </a:lvl4pPr>
            <a:lvl5pPr>
              <a:defRPr sz="2850" b="1">
                <a:solidFill>
                  <a:srgbClr val="8FF06A"/>
                </a:solidFill>
                <a:latin typeface="Arial"/>
                <a:ea typeface="Arial"/>
                <a:cs typeface="Arial"/>
              </a:defRPr>
            </a:lvl5pPr>
            <a:lvl6pPr>
              <a:defRPr sz="2850" b="1">
                <a:solidFill>
                  <a:srgbClr val="8FF06A"/>
                </a:solidFill>
                <a:latin typeface="Arial"/>
                <a:ea typeface="Arial"/>
                <a:cs typeface="Arial"/>
              </a:defRPr>
            </a:lvl6pPr>
            <a:lvl7pPr>
              <a:defRPr sz="2850" b="1">
                <a:solidFill>
                  <a:srgbClr val="8FF06A"/>
                </a:solidFill>
                <a:latin typeface="Arial"/>
                <a:ea typeface="Arial"/>
                <a:cs typeface="Arial"/>
              </a:defRPr>
            </a:lvl7pPr>
            <a:lvl8pPr>
              <a:defRPr sz="2850" b="1">
                <a:solidFill>
                  <a:srgbClr val="8FF06A"/>
                </a:solidFill>
                <a:latin typeface="Arial"/>
                <a:ea typeface="Arial"/>
                <a:cs typeface="Arial"/>
              </a:defRPr>
            </a:lvl8pPr>
            <a:lvl9pPr>
              <a:defRPr sz="2850" b="1">
                <a:solidFill>
                  <a:srgbClr val="8FF06A"/>
                </a:solidFill>
                <a:latin typeface="Arial"/>
                <a:ea typeface="Arial"/>
                <a:cs typeface="Arial"/>
              </a:defRPr>
            </a:lvl9pPr>
          </a:lstStyle>
          <a:p xmlns:a="http://schemas.openxmlformats.org/drawingml/2006/main">
            <a:pPr>
              <a:defRPr sz="2850" b="1">
                <a:solidFill>
                  <a:srgbClr val="8FF06A"/>
                </a:solidFill>
                <a:latin typeface="Arial"/>
                <a:ea typeface="Arial"/>
                <a:cs typeface="Arial"/>
              </a:defRPr>
            </a:pPr>
            <a:r>
              <a:rPr sz="2850" b="1">
                <a:solidFill>
                  <a:srgbClr val="8FF06A"/>
                </a:solidFill>
                <a:latin typeface="Arial"/>
                <a:ea typeface="Arial"/>
                <a:cs typeface="Arial"/>
              </a:rPr>
              <a:t>Empezar con una decisión propia</a:t>
            </a:r>
          </a:p>
        </p:txBody>
      </p:sp>
      <p:sp>
        <p:nvSpPr>
          <p:cNvPr id="5" name="">
            <a:extLst xmlns:a="http://schemas.openxmlformats.org/drawingml/2006/main">
              <a:ext uri="{FF2B5EF4-FFF2-40B4-BE49-F238E27FC236}">
                <a16:creationId xmlns:a16="http://schemas.microsoft.com/office/drawing/2014/main" id="{C41EF4BF-0C6A-40F3-80FD-C892E3502C42}"/>
              </a:ext>
            </a:extLst>
          </p:cNvPr>
          <p:cNvSpPr>
            <a:spLocks xmlns:a="http://schemas.openxmlformats.org/drawingml/2006/main" noGrp="1"/>
          </p:cNvSpPr>
          <p:nvPr/>
        </p:nvSpPr>
        <p:spPr>
          <a:xfrm xmlns:a="http://schemas.openxmlformats.org/drawingml/2006/main">
            <a:off x="609600" y="4000500"/>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EDF5EF"/>
                </a:solidFill>
                <a:latin typeface="Arial"/>
                <a:ea typeface="Arial"/>
                <a:cs typeface="Arial"/>
              </a:defRPr>
            </a:defPPr>
            <a:lvl1pPr>
              <a:defRPr sz="2175" b="0">
                <a:solidFill>
                  <a:srgbClr val="EDF5EF"/>
                </a:solidFill>
                <a:latin typeface="Arial"/>
                <a:ea typeface="Arial"/>
                <a:cs typeface="Arial"/>
              </a:defRPr>
            </a:lvl1pPr>
            <a:lvl2pPr>
              <a:defRPr sz="2175" b="0">
                <a:solidFill>
                  <a:srgbClr val="EDF5EF"/>
                </a:solidFill>
                <a:latin typeface="Arial"/>
                <a:ea typeface="Arial"/>
                <a:cs typeface="Arial"/>
              </a:defRPr>
            </a:lvl2pPr>
            <a:lvl3pPr>
              <a:defRPr sz="2175" b="0">
                <a:solidFill>
                  <a:srgbClr val="EDF5EF"/>
                </a:solidFill>
                <a:latin typeface="Arial"/>
                <a:ea typeface="Arial"/>
                <a:cs typeface="Arial"/>
              </a:defRPr>
            </a:lvl3pPr>
            <a:lvl4pPr>
              <a:defRPr sz="2175" b="0">
                <a:solidFill>
                  <a:srgbClr val="EDF5EF"/>
                </a:solidFill>
                <a:latin typeface="Arial"/>
                <a:ea typeface="Arial"/>
                <a:cs typeface="Arial"/>
              </a:defRPr>
            </a:lvl4pPr>
            <a:lvl5pPr>
              <a:defRPr sz="2175" b="0">
                <a:solidFill>
                  <a:srgbClr val="EDF5EF"/>
                </a:solidFill>
                <a:latin typeface="Arial"/>
                <a:ea typeface="Arial"/>
                <a:cs typeface="Arial"/>
              </a:defRPr>
            </a:lvl5pPr>
            <a:lvl6pPr>
              <a:defRPr sz="2175" b="0">
                <a:solidFill>
                  <a:srgbClr val="EDF5EF"/>
                </a:solidFill>
                <a:latin typeface="Arial"/>
                <a:ea typeface="Arial"/>
                <a:cs typeface="Arial"/>
              </a:defRPr>
            </a:lvl6pPr>
            <a:lvl7pPr>
              <a:defRPr sz="2175" b="0">
                <a:solidFill>
                  <a:srgbClr val="EDF5EF"/>
                </a:solidFill>
                <a:latin typeface="Arial"/>
                <a:ea typeface="Arial"/>
                <a:cs typeface="Arial"/>
              </a:defRPr>
            </a:lvl7pPr>
            <a:lvl8pPr>
              <a:defRPr sz="2175" b="0">
                <a:solidFill>
                  <a:srgbClr val="EDF5EF"/>
                </a:solidFill>
                <a:latin typeface="Arial"/>
                <a:ea typeface="Arial"/>
                <a:cs typeface="Arial"/>
              </a:defRPr>
            </a:lvl8pPr>
            <a:lvl9pPr>
              <a:defRPr sz="2175" b="0">
                <a:solidFill>
                  <a:srgbClr val="EDF5EF"/>
                </a:solidFill>
                <a:latin typeface="Arial"/>
                <a:ea typeface="Arial"/>
                <a:cs typeface="Arial"/>
              </a:defRPr>
            </a:lvl9pPr>
          </a:lstStyle>
          <a:p xmlns:a="http://schemas.openxmlformats.org/drawingml/2006/main">
            <a:pPr>
              <a:defRPr sz="2175" b="0">
                <a:solidFill>
                  <a:srgbClr val="EDF5EF"/>
                </a:solidFill>
                <a:latin typeface="Arial"/>
                <a:ea typeface="Arial"/>
                <a:cs typeface="Arial"/>
              </a:defRPr>
            </a:pPr>
            <a:r>
              <a:rPr sz="2175" b="0">
                <a:solidFill>
                  <a:srgbClr val="EDF5EF"/>
                </a:solidFill>
                <a:latin typeface="Arial"/>
                <a:ea typeface="Arial"/>
                <a:cs typeface="Arial"/>
              </a:rPr>
              <a:t>Un lote y una necesidad concreta para evaluar la utilidad de Econexo.</a:t>
            </a:r>
          </a:p>
        </p:txBody>
      </p:sp>
      <p:pic>
        <p:nvPicPr>
          <p:cNvPr id="6" name="">
            <a:extLst xmlns:a="http://schemas.openxmlformats.org/drawingml/2006/main">
              <a:ext uri="{FF2B5EF4-FFF2-40B4-BE49-F238E27FC236}">
                <a16:creationId xmlns:a16="http://schemas.microsoft.com/office/drawing/2014/main" id="{D85F8568-66CA-4912-8956-F7FC0CAA4222}"/>
              </a:ext>
            </a:extLst>
          </p:cNvPr>
          <p:cNvPicPr>
            <a:picLocks xmlns:a="http://schemas.openxmlformats.org/drawingml/2006/main" noChangeAspect="1"/>
          </p:cNvPicPr>
          <p:nvPr/>
        </p:nvPicPr>
        <p:blipFill>
          <a:blip xmlns:r="http://schemas.openxmlformats.org/officeDocument/2006/relationships" xmlns:a="http://schemas.openxmlformats.org/drawingml/2006/main" r:embed="Rb8dc1b6e4d8049c9"/>
          <a:srcRect xmlns:a="http://schemas.openxmlformats.org/drawingml/2006/main" l="2500" t="10500" r="6000" b="30000"/>
          <a:stretch xmlns:a="http://schemas.openxmlformats.org/drawingml/2006/main"/>
        </p:blipFill>
        <p:spPr>
          <a:xfrm xmlns:a="http://schemas.openxmlformats.org/drawingml/2006/main">
            <a:off x="5095875" y="2381250"/>
            <a:ext cx="6477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76931CC-5AE3-4208-8F02-16CE17EBAD15}"/>
              </a:ext>
            </a:extLst>
          </p:cNvPr>
          <p:cNvSpPr>
            <a:spLocks xmlns:a="http://schemas.openxmlformats.org/drawingml/2006/main" noGrp="1"/>
          </p:cNvSpPr>
          <p:nvPr/>
        </p:nvSpPr>
        <p:spPr>
          <a:xfrm xmlns:a="http://schemas.openxmlformats.org/drawingml/2006/main">
            <a:off x="5095875" y="604837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B6CDC3"/>
                </a:solidFill>
                <a:latin typeface="Arial"/>
                <a:ea typeface="Arial"/>
                <a:cs typeface="Arial"/>
              </a:defRPr>
            </a:defPPr>
            <a:lvl1pPr>
              <a:defRPr sz="1350" b="0">
                <a:solidFill>
                  <a:srgbClr val="B6CDC3"/>
                </a:solidFill>
                <a:latin typeface="Arial"/>
                <a:ea typeface="Arial"/>
                <a:cs typeface="Arial"/>
              </a:defRPr>
            </a:lvl1pPr>
            <a:lvl2pPr>
              <a:defRPr sz="1350" b="0">
                <a:solidFill>
                  <a:srgbClr val="B6CDC3"/>
                </a:solidFill>
                <a:latin typeface="Arial"/>
                <a:ea typeface="Arial"/>
                <a:cs typeface="Arial"/>
              </a:defRPr>
            </a:lvl2pPr>
            <a:lvl3pPr>
              <a:defRPr sz="1350" b="0">
                <a:solidFill>
                  <a:srgbClr val="B6CDC3"/>
                </a:solidFill>
                <a:latin typeface="Arial"/>
                <a:ea typeface="Arial"/>
                <a:cs typeface="Arial"/>
              </a:defRPr>
            </a:lvl3pPr>
            <a:lvl4pPr>
              <a:defRPr sz="1350" b="0">
                <a:solidFill>
                  <a:srgbClr val="B6CDC3"/>
                </a:solidFill>
                <a:latin typeface="Arial"/>
                <a:ea typeface="Arial"/>
                <a:cs typeface="Arial"/>
              </a:defRPr>
            </a:lvl4pPr>
            <a:lvl5pPr>
              <a:defRPr sz="1350" b="0">
                <a:solidFill>
                  <a:srgbClr val="B6CDC3"/>
                </a:solidFill>
                <a:latin typeface="Arial"/>
                <a:ea typeface="Arial"/>
                <a:cs typeface="Arial"/>
              </a:defRPr>
            </a:lvl5pPr>
            <a:lvl6pPr>
              <a:defRPr sz="1350" b="0">
                <a:solidFill>
                  <a:srgbClr val="B6CDC3"/>
                </a:solidFill>
                <a:latin typeface="Arial"/>
                <a:ea typeface="Arial"/>
                <a:cs typeface="Arial"/>
              </a:defRPr>
            </a:lvl6pPr>
            <a:lvl7pPr>
              <a:defRPr sz="1350" b="0">
                <a:solidFill>
                  <a:srgbClr val="B6CDC3"/>
                </a:solidFill>
                <a:latin typeface="Arial"/>
                <a:ea typeface="Arial"/>
                <a:cs typeface="Arial"/>
              </a:defRPr>
            </a:lvl7pPr>
            <a:lvl8pPr>
              <a:defRPr sz="1350" b="0">
                <a:solidFill>
                  <a:srgbClr val="B6CDC3"/>
                </a:solidFill>
                <a:latin typeface="Arial"/>
                <a:ea typeface="Arial"/>
                <a:cs typeface="Arial"/>
              </a:defRPr>
            </a:lvl8pPr>
            <a:lvl9pPr>
              <a:defRPr sz="1350" b="0">
                <a:solidFill>
                  <a:srgbClr val="B6CDC3"/>
                </a:solidFill>
                <a:latin typeface="Arial"/>
                <a:ea typeface="Arial"/>
                <a:cs typeface="Arial"/>
              </a:defRPr>
            </a:lvl9pPr>
          </a:lstStyle>
          <a:p xmlns:a="http://schemas.openxmlformats.org/drawingml/2006/main">
            <a:pPr>
              <a:defRPr sz="1350" b="0">
                <a:solidFill>
                  <a:srgbClr val="B6CDC3"/>
                </a:solidFill>
                <a:latin typeface="Arial"/>
                <a:ea typeface="Arial"/>
                <a:cs typeface="Arial"/>
              </a:defRPr>
            </a:pPr>
            <a:r>
              <a:rPr sz="1350" b="0">
                <a:solidFill>
                  <a:srgbClr val="B6CDC3"/>
                </a:solidFill>
                <a:latin typeface="Arial"/>
                <a:ea typeface="Arial"/>
                <a:cs typeface="Arial"/>
              </a:rPr>
              <a:t>Interfaz de Econexo con datos de demostración</a:t>
            </a:r>
          </a:p>
        </p:txBody>
      </p:sp>
    </p:spTree>
    <p:extLst>
      <p:ext uri="{BB962C8B-B14F-4D97-AF65-F5344CB8AC3E}">
        <p14:creationId xmlns:p14="http://schemas.microsoft.com/office/powerpoint/2010/main" val="187919506"/>
      </p:ext>
    </p:extLst>
  </p:cSld>
</p:sld>
</file>

<file path=ppt/slides/slide1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7E43E0-56F3-4E10-9DCF-9B58E4F1E618}"/>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02EE949D-C6C9-4192-ADC6-5A73EB2F6C19}"/>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68560C31-936D-4381-A240-37DD71A69043}"/>
              </a:ext>
            </a:extLst>
          </p:cNvPr>
          <p:cNvPicPr>
            <a:picLocks xmlns:a="http://schemas.openxmlformats.org/drawingml/2006/main" noChangeAspect="1"/>
          </p:cNvPicPr>
          <p:nvPr/>
        </p:nvPicPr>
        <p:blipFill>
          <a:blip xmlns:r="http://schemas.openxmlformats.org/officeDocument/2006/relationships" xmlns:a="http://schemas.openxmlformats.org/drawingml/2006/main" r:embed="R7814d5ad2922401b"/>
          <a:stretch xmlns:a="http://schemas.openxmlformats.org/drawingml/2006/main"/>
        </p:blipFill>
        <p:spPr>
          <a:xfrm xmlns:a="http://schemas.openxmlformats.org/drawingml/2006/main">
            <a:off x="609600" y="762000"/>
            <a:ext cx="6191250" cy="162520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67E813C-32ED-4887-B773-DB61499BD14C}"/>
              </a:ext>
            </a:extLst>
          </p:cNvPr>
          <p:cNvSpPr>
            <a:spLocks xmlns:a="http://schemas.openxmlformats.org/drawingml/2006/main" noGrp="1"/>
          </p:cNvSpPr>
          <p:nvPr/>
        </p:nvSpPr>
        <p:spPr>
          <a:xfrm xmlns:a="http://schemas.openxmlformats.org/drawingml/2006/main">
            <a:off x="609600" y="2857500"/>
            <a:ext cx="1085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EDF5EF"/>
                </a:solidFill>
                <a:latin typeface="Arial"/>
                <a:ea typeface="Arial"/>
                <a:cs typeface="Arial"/>
              </a:defRPr>
            </a:defPPr>
            <a:lvl1pPr>
              <a:defRPr sz="4500" b="1">
                <a:solidFill>
                  <a:srgbClr val="EDF5EF"/>
                </a:solidFill>
                <a:latin typeface="Arial"/>
                <a:ea typeface="Arial"/>
                <a:cs typeface="Arial"/>
              </a:defRPr>
            </a:lvl1pPr>
            <a:lvl2pPr>
              <a:defRPr sz="4500" b="1">
                <a:solidFill>
                  <a:srgbClr val="EDF5EF"/>
                </a:solidFill>
                <a:latin typeface="Arial"/>
                <a:ea typeface="Arial"/>
                <a:cs typeface="Arial"/>
              </a:defRPr>
            </a:lvl2pPr>
            <a:lvl3pPr>
              <a:defRPr sz="4500" b="1">
                <a:solidFill>
                  <a:srgbClr val="EDF5EF"/>
                </a:solidFill>
                <a:latin typeface="Arial"/>
                <a:ea typeface="Arial"/>
                <a:cs typeface="Arial"/>
              </a:defRPr>
            </a:lvl3pPr>
            <a:lvl4pPr>
              <a:defRPr sz="4500" b="1">
                <a:solidFill>
                  <a:srgbClr val="EDF5EF"/>
                </a:solidFill>
                <a:latin typeface="Arial"/>
                <a:ea typeface="Arial"/>
                <a:cs typeface="Arial"/>
              </a:defRPr>
            </a:lvl4pPr>
            <a:lvl5pPr>
              <a:defRPr sz="4500" b="1">
                <a:solidFill>
                  <a:srgbClr val="EDF5EF"/>
                </a:solidFill>
                <a:latin typeface="Arial"/>
                <a:ea typeface="Arial"/>
                <a:cs typeface="Arial"/>
              </a:defRPr>
            </a:lvl5pPr>
            <a:lvl6pPr>
              <a:defRPr sz="4500" b="1">
                <a:solidFill>
                  <a:srgbClr val="EDF5EF"/>
                </a:solidFill>
                <a:latin typeface="Arial"/>
                <a:ea typeface="Arial"/>
                <a:cs typeface="Arial"/>
              </a:defRPr>
            </a:lvl6pPr>
            <a:lvl7pPr>
              <a:defRPr sz="4500" b="1">
                <a:solidFill>
                  <a:srgbClr val="EDF5EF"/>
                </a:solidFill>
                <a:latin typeface="Arial"/>
                <a:ea typeface="Arial"/>
                <a:cs typeface="Arial"/>
              </a:defRPr>
            </a:lvl7pPr>
            <a:lvl8pPr>
              <a:defRPr sz="4500" b="1">
                <a:solidFill>
                  <a:srgbClr val="EDF5EF"/>
                </a:solidFill>
                <a:latin typeface="Arial"/>
                <a:ea typeface="Arial"/>
                <a:cs typeface="Arial"/>
              </a:defRPr>
            </a:lvl8pPr>
            <a:lvl9pPr>
              <a:defRPr sz="4500" b="1">
                <a:solidFill>
                  <a:srgbClr val="EDF5EF"/>
                </a:solidFill>
                <a:latin typeface="Arial"/>
                <a:ea typeface="Arial"/>
                <a:cs typeface="Arial"/>
              </a:defRPr>
            </a:lvl9pPr>
          </a:lstStyle>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¿Qué decisión de tu campo</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te gustaría resolver</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con más información?</a:t>
            </a:r>
          </a:p>
        </p:txBody>
      </p:sp>
      <p:sp>
        <p:nvSpPr>
          <p:cNvPr id="5" name="">
            <a:extLst xmlns:a="http://schemas.openxmlformats.org/drawingml/2006/main">
              <a:ext uri="{FF2B5EF4-FFF2-40B4-BE49-F238E27FC236}">
                <a16:creationId xmlns:a16="http://schemas.microsoft.com/office/drawing/2014/main" id="{6EC4E758-051C-4815-9994-AF7E1232CAE7}"/>
              </a:ext>
            </a:extLst>
          </p:cNvPr>
          <p:cNvSpPr>
            <a:spLocks xmlns:a="http://schemas.openxmlformats.org/drawingml/2006/main" noGrp="1"/>
          </p:cNvSpPr>
          <p:nvPr/>
        </p:nvSpPr>
        <p:spPr>
          <a:xfrm xmlns:a="http://schemas.openxmlformats.org/drawingml/2006/main">
            <a:off x="609600" y="5715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8FF06A"/>
                </a:solidFill>
                <a:latin typeface="Arial"/>
                <a:ea typeface="Arial"/>
                <a:cs typeface="Arial"/>
              </a:defRPr>
            </a:defPPr>
            <a:lvl1pPr>
              <a:defRPr sz="2175" b="0">
                <a:solidFill>
                  <a:srgbClr val="8FF06A"/>
                </a:solidFill>
                <a:latin typeface="Arial"/>
                <a:ea typeface="Arial"/>
                <a:cs typeface="Arial"/>
              </a:defRPr>
            </a:lvl1pPr>
            <a:lvl2pPr>
              <a:defRPr sz="2175" b="0">
                <a:solidFill>
                  <a:srgbClr val="8FF06A"/>
                </a:solidFill>
                <a:latin typeface="Arial"/>
                <a:ea typeface="Arial"/>
                <a:cs typeface="Arial"/>
              </a:defRPr>
            </a:lvl2pPr>
            <a:lvl3pPr>
              <a:defRPr sz="2175" b="0">
                <a:solidFill>
                  <a:srgbClr val="8FF06A"/>
                </a:solidFill>
                <a:latin typeface="Arial"/>
                <a:ea typeface="Arial"/>
                <a:cs typeface="Arial"/>
              </a:defRPr>
            </a:lvl3pPr>
            <a:lvl4pPr>
              <a:defRPr sz="2175" b="0">
                <a:solidFill>
                  <a:srgbClr val="8FF06A"/>
                </a:solidFill>
                <a:latin typeface="Arial"/>
                <a:ea typeface="Arial"/>
                <a:cs typeface="Arial"/>
              </a:defRPr>
            </a:lvl4pPr>
            <a:lvl5pPr>
              <a:defRPr sz="2175" b="0">
                <a:solidFill>
                  <a:srgbClr val="8FF06A"/>
                </a:solidFill>
                <a:latin typeface="Arial"/>
                <a:ea typeface="Arial"/>
                <a:cs typeface="Arial"/>
              </a:defRPr>
            </a:lvl5pPr>
            <a:lvl6pPr>
              <a:defRPr sz="2175" b="0">
                <a:solidFill>
                  <a:srgbClr val="8FF06A"/>
                </a:solidFill>
                <a:latin typeface="Arial"/>
                <a:ea typeface="Arial"/>
                <a:cs typeface="Arial"/>
              </a:defRPr>
            </a:lvl6pPr>
            <a:lvl7pPr>
              <a:defRPr sz="2175" b="0">
                <a:solidFill>
                  <a:srgbClr val="8FF06A"/>
                </a:solidFill>
                <a:latin typeface="Arial"/>
                <a:ea typeface="Arial"/>
                <a:cs typeface="Arial"/>
              </a:defRPr>
            </a:lvl7pPr>
            <a:lvl8pPr>
              <a:defRPr sz="2175" b="0">
                <a:solidFill>
                  <a:srgbClr val="8FF06A"/>
                </a:solidFill>
                <a:latin typeface="Arial"/>
                <a:ea typeface="Arial"/>
                <a:cs typeface="Arial"/>
              </a:defRPr>
            </a:lvl8pPr>
            <a:lvl9pPr>
              <a:defRPr sz="2175" b="0">
                <a:solidFill>
                  <a:srgbClr val="8FF06A"/>
                </a:solidFill>
                <a:latin typeface="Arial"/>
                <a:ea typeface="Arial"/>
                <a:cs typeface="Arial"/>
              </a:defRPr>
            </a:lvl9pPr>
          </a:lstStyle>
          <a:p xmlns:a="http://schemas.openxmlformats.org/drawingml/2006/main">
            <a:pPr>
              <a:defRPr sz="2175" b="0">
                <a:solidFill>
                  <a:srgbClr val="8FF06A"/>
                </a:solidFill>
                <a:latin typeface="Arial"/>
                <a:ea typeface="Arial"/>
                <a:cs typeface="Arial"/>
              </a:defRPr>
            </a:pPr>
            <a:r>
              <a:rPr sz="2175" b="0">
                <a:solidFill>
                  <a:srgbClr val="8FF06A"/>
                </a:solidFill>
                <a:latin typeface="Arial"/>
                <a:ea typeface="Arial"/>
                <a:cs typeface="Arial"/>
              </a:rPr>
              <a:t>Conversemos al finalizar y coordinemos una demostración.</a:t>
            </a:r>
          </a:p>
        </p:txBody>
      </p:sp>
    </p:spTree>
    <p:extLst>
      <p:ext uri="{BB962C8B-B14F-4D97-AF65-F5344CB8AC3E}">
        <p14:creationId xmlns:p14="http://schemas.microsoft.com/office/powerpoint/2010/main" val="1921297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2026-10-19T18:10:55.3820000Z</dcterms:created>
  <dcterms:modified xsi:type="dcterms:W3CDTF">2026-10-19T18:10:55.3820000Z</dcterms:modified>
</coreProperties>
</file>